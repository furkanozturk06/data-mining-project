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504" y="8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142C47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229600" y="-1828800"/>
            <a:ext cx="5943600" cy="5943600"/>
          </a:xfrm>
          <a:prstGeom prst="ellipse">
            <a:avLst/>
          </a:prstGeom>
          <a:solidFill>
            <a:srgbClr val="14B8A6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784080" y="365760"/>
            <a:ext cx="3108960" cy="3108960"/>
          </a:xfrm>
          <a:prstGeom prst="ellipse">
            <a:avLst/>
          </a:prstGeom>
          <a:solidFill>
            <a:srgbClr val="5EEAD4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607040" y="1828800"/>
            <a:ext cx="1280160" cy="1280160"/>
          </a:xfrm>
          <a:prstGeom prst="ellipse">
            <a:avLst/>
          </a:prstGeom>
          <a:solidFill>
            <a:srgbClr val="F59E0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-1371600" y="4937760"/>
            <a:ext cx="3200400" cy="3200400"/>
          </a:xfrm>
          <a:prstGeom prst="ellipse">
            <a:avLst/>
          </a:prstGeom>
          <a:solidFill>
            <a:srgbClr val="1F406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74320" y="5577840"/>
            <a:ext cx="640080" cy="640080"/>
          </a:xfrm>
          <a:prstGeom prst="ellipse">
            <a:avLst/>
          </a:prstGeom>
          <a:solidFill>
            <a:srgbClr val="F59E0B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40080" y="640080"/>
            <a:ext cx="109728" cy="109728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41247" y="640080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42415" y="640080"/>
            <a:ext cx="109728" cy="109728"/>
          </a:xfrm>
          <a:prstGeom prst="ellipse">
            <a:avLst/>
          </a:prstGeom>
          <a:solidFill>
            <a:srgbClr val="C9D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914400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400">
                <a:solidFill>
                  <a:srgbClr val="5EEAD4"/>
                </a:solidFill>
                <a:latin typeface="Calibri"/>
              </a:rPr>
              <a:t>DÖNEM PROJESİ  •  ARA SUNUM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600200"/>
            <a:ext cx="10515600" cy="11887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0" i="0">
                <a:solidFill>
                  <a:srgbClr val="C9D3E0"/>
                </a:solidFill>
                <a:latin typeface="Calibri"/>
              </a:rPr>
              <a:t>Müşteri Geri Bildirimlerine Dayalı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331720"/>
            <a:ext cx="10515600" cy="1463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 i="0">
                <a:solidFill>
                  <a:srgbClr val="FFFFFF"/>
                </a:solidFill>
                <a:latin typeface="Calibri"/>
              </a:rPr>
              <a:t>Memnuniyet Analizi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611880"/>
            <a:ext cx="822960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822191"/>
            <a:ext cx="96012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 dirty="0">
                <a:solidFill>
                  <a:srgbClr val="C9D3E0"/>
                </a:solidFill>
                <a:latin typeface="Calibri"/>
              </a:rPr>
              <a:t>Web Scraping </a:t>
            </a:r>
            <a:r>
              <a:rPr sz="1500" b="0" i="1" dirty="0" err="1">
                <a:solidFill>
                  <a:srgbClr val="C9D3E0"/>
                </a:solidFill>
                <a:latin typeface="Calibri"/>
              </a:rPr>
              <a:t>ile</a:t>
            </a:r>
            <a:r>
              <a:rPr sz="1500" b="0" i="1" dirty="0">
                <a:solidFill>
                  <a:srgbClr val="C9D3E0"/>
                </a:solidFill>
                <a:latin typeface="Calibri"/>
              </a:rPr>
              <a:t> </a:t>
            </a:r>
            <a:r>
              <a:rPr sz="1500" b="0" i="1" dirty="0" err="1">
                <a:solidFill>
                  <a:srgbClr val="C9D3E0"/>
                </a:solidFill>
                <a:latin typeface="Calibri"/>
              </a:rPr>
              <a:t>Çok</a:t>
            </a:r>
            <a:r>
              <a:rPr sz="1500" b="0" i="1" dirty="0">
                <a:solidFill>
                  <a:srgbClr val="C9D3E0"/>
                </a:solidFill>
                <a:latin typeface="Calibri"/>
              </a:rPr>
              <a:t> </a:t>
            </a:r>
            <a:r>
              <a:rPr sz="1500" b="0" i="1" dirty="0" err="1">
                <a:solidFill>
                  <a:srgbClr val="C9D3E0"/>
                </a:solidFill>
                <a:latin typeface="Calibri"/>
              </a:rPr>
              <a:t>Platformlu</a:t>
            </a:r>
            <a:r>
              <a:rPr sz="1500" b="0" i="1" dirty="0">
                <a:solidFill>
                  <a:srgbClr val="C9D3E0"/>
                </a:solidFill>
                <a:latin typeface="Calibri"/>
              </a:rPr>
              <a:t> </a:t>
            </a:r>
            <a:r>
              <a:rPr sz="1500" b="0" i="1" dirty="0" err="1">
                <a:solidFill>
                  <a:srgbClr val="C9D3E0"/>
                </a:solidFill>
                <a:latin typeface="Calibri"/>
              </a:rPr>
              <a:t>Yorum</a:t>
            </a:r>
            <a:r>
              <a:rPr sz="1500" b="0" i="1" dirty="0">
                <a:solidFill>
                  <a:srgbClr val="C9D3E0"/>
                </a:solidFill>
                <a:latin typeface="Calibri"/>
              </a:rPr>
              <a:t> Toplama </a:t>
            </a:r>
            <a:r>
              <a:rPr sz="1500" b="0" i="1" dirty="0" err="1">
                <a:solidFill>
                  <a:srgbClr val="C9D3E0"/>
                </a:solidFill>
                <a:latin typeface="Calibri"/>
              </a:rPr>
              <a:t>ve</a:t>
            </a:r>
            <a:r>
              <a:rPr sz="1500" b="0" i="1" dirty="0">
                <a:solidFill>
                  <a:srgbClr val="C9D3E0"/>
                </a:solidFill>
                <a:latin typeface="Calibri"/>
              </a:rPr>
              <a:t> Duygu </a:t>
            </a:r>
            <a:r>
              <a:rPr sz="1500" b="0" i="1" dirty="0" err="1">
                <a:solidFill>
                  <a:srgbClr val="C9D3E0"/>
                </a:solidFill>
                <a:latin typeface="Calibri"/>
              </a:rPr>
              <a:t>Sınıflandırması</a:t>
            </a:r>
            <a:endParaRPr sz="1500" b="0" i="1" dirty="0">
              <a:solidFill>
                <a:srgbClr val="C9D3E0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0080" y="4617720"/>
            <a:ext cx="3657600" cy="25346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spc="400" dirty="0">
                <a:solidFill>
                  <a:srgbClr val="5EEAD4"/>
                </a:solidFill>
                <a:latin typeface="Calibri"/>
              </a:rPr>
              <a:t>HAZIRLAYANLAR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864608"/>
            <a:ext cx="10881360" cy="10972"/>
          </a:xfrm>
          <a:prstGeom prst="rect">
            <a:avLst/>
          </a:prstGeom>
          <a:solidFill>
            <a:srgbClr val="C9D3E0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40080" y="5074920"/>
            <a:ext cx="3520440" cy="1051560"/>
          </a:xfrm>
          <a:prstGeom prst="round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41248" y="5276088"/>
            <a:ext cx="658368" cy="658368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8" y="5276088"/>
            <a:ext cx="658368" cy="6583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0B1F33"/>
                </a:solidFill>
                <a:latin typeface="Calibri"/>
              </a:rPr>
              <a:t>FÖ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5276088"/>
            <a:ext cx="24231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 dirty="0">
                <a:solidFill>
                  <a:srgbClr val="FFFFFF"/>
                </a:solidFill>
                <a:latin typeface="Calibri"/>
              </a:rPr>
              <a:t>Furkan Öztürk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5623560"/>
            <a:ext cx="242316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 spc="120" dirty="0">
                <a:solidFill>
                  <a:srgbClr val="5EEAD4"/>
                </a:solidFill>
                <a:latin typeface="Calibri"/>
              </a:rPr>
              <a:t>230229083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25112" y="5074920"/>
            <a:ext cx="3520440" cy="1051560"/>
          </a:xfrm>
          <a:prstGeom prst="round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526280" y="5276088"/>
            <a:ext cx="658368" cy="658368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26280" y="5276088"/>
            <a:ext cx="658368" cy="6583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0B1F33"/>
                </a:solidFill>
                <a:latin typeface="Calibri"/>
              </a:rPr>
              <a:t>TÇ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85232" y="5276088"/>
            <a:ext cx="24231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Taha Yasin Çiçek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5232" y="5623560"/>
            <a:ext cx="242316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 spc="120">
                <a:solidFill>
                  <a:srgbClr val="5EEAD4"/>
                </a:solidFill>
                <a:latin typeface="Calibri"/>
              </a:rPr>
              <a:t>230229088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10144" y="5074920"/>
            <a:ext cx="3520440" cy="1051560"/>
          </a:xfrm>
          <a:prstGeom prst="round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211312" y="5276088"/>
            <a:ext cx="658368" cy="658368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11312" y="5276088"/>
            <a:ext cx="658368" cy="6583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0B1F33"/>
                </a:solidFill>
                <a:latin typeface="Calibri"/>
              </a:rPr>
              <a:t>ZA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70264" y="5276088"/>
            <a:ext cx="24231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Ziyaeddin Ayerden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70264" y="5623560"/>
            <a:ext cx="242316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 spc="120">
                <a:solidFill>
                  <a:srgbClr val="5EEAD4"/>
                </a:solidFill>
                <a:latin typeface="Calibri"/>
              </a:rPr>
              <a:t>210229022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6400800"/>
            <a:ext cx="36576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" y="6473952"/>
            <a:ext cx="73152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180">
                <a:solidFill>
                  <a:srgbClr val="C9D3E0"/>
                </a:solidFill>
                <a:latin typeface="Calibri"/>
              </a:rPr>
              <a:t>Kocaeli Üniversitesi  •  2025–2026 Bahar Dönemi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6473952"/>
            <a:ext cx="1673352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 spc="200">
                <a:solidFill>
                  <a:srgbClr val="5EEAD4"/>
                </a:solidFill>
                <a:latin typeface="Calibri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607040" y="-1463040"/>
            <a:ext cx="3291840" cy="3291840"/>
          </a:xfrm>
          <a:prstGeom prst="ellipse">
            <a:avLst/>
          </a:prstGeom>
          <a:solidFill>
            <a:srgbClr val="CCFBF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731520" y="5669280"/>
            <a:ext cx="2011680" cy="2011680"/>
          </a:xfrm>
          <a:prstGeom prst="ellipse">
            <a:avLst/>
          </a:prstGeom>
          <a:solidFill>
            <a:srgbClr val="FEF3C7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424160" y="228600"/>
            <a:ext cx="1554480" cy="1417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0" b="1" i="0">
                <a:solidFill>
                  <a:srgbClr val="CCFBF1"/>
                </a:solidFill>
                <a:latin typeface="Calibr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14B8A6"/>
                </a:solidFill>
                <a:latin typeface="Calibri"/>
              </a:rPr>
              <a:t>BÖLÜM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77240"/>
            <a:ext cx="96012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 dirty="0" err="1">
                <a:solidFill>
                  <a:srgbClr val="0B1F33"/>
                </a:solidFill>
                <a:latin typeface="Calibri"/>
              </a:rPr>
              <a:t>Proje</a:t>
            </a:r>
            <a:r>
              <a:rPr sz="3000" b="1" i="0" dirty="0">
                <a:solidFill>
                  <a:srgbClr val="0B1F33"/>
                </a:solidFill>
                <a:latin typeface="Calibri"/>
              </a:rPr>
              <a:t> </a:t>
            </a:r>
            <a:r>
              <a:rPr sz="3000" b="1" i="0" dirty="0" err="1">
                <a:solidFill>
                  <a:srgbClr val="0B1F33"/>
                </a:solidFill>
                <a:latin typeface="Calibri"/>
              </a:rPr>
              <a:t>Konusu</a:t>
            </a:r>
            <a:r>
              <a:rPr sz="3000" b="1" i="0" dirty="0">
                <a:solidFill>
                  <a:srgbClr val="0B1F33"/>
                </a:solidFill>
                <a:latin typeface="Calibri"/>
              </a:rPr>
              <a:t> </a:t>
            </a:r>
            <a:r>
              <a:rPr sz="3000" b="1" i="0" dirty="0" err="1">
                <a:solidFill>
                  <a:srgbClr val="0B1F33"/>
                </a:solidFill>
                <a:latin typeface="Calibri"/>
              </a:rPr>
              <a:t>ve</a:t>
            </a:r>
            <a:r>
              <a:rPr sz="3000" b="1" i="0" dirty="0">
                <a:solidFill>
                  <a:srgbClr val="0B1F33"/>
                </a:solidFill>
                <a:latin typeface="Calibri"/>
              </a:rPr>
              <a:t> Amaç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9601200" cy="2868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 dirty="0" err="1">
                <a:solidFill>
                  <a:srgbClr val="64748B"/>
                </a:solidFill>
                <a:latin typeface="Calibri"/>
              </a:rPr>
              <a:t>Müşteri</a:t>
            </a:r>
            <a:r>
              <a:rPr sz="15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1500" b="0" i="1" dirty="0" err="1">
                <a:solidFill>
                  <a:srgbClr val="64748B"/>
                </a:solidFill>
                <a:latin typeface="Calibri"/>
              </a:rPr>
              <a:t>yorumlarından</a:t>
            </a:r>
            <a:r>
              <a:rPr sz="15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1500" b="0" i="1" dirty="0" err="1">
                <a:solidFill>
                  <a:srgbClr val="64748B"/>
                </a:solidFill>
                <a:latin typeface="Calibri"/>
              </a:rPr>
              <a:t>otomatik</a:t>
            </a:r>
            <a:r>
              <a:rPr sz="15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1500" b="0" i="1" dirty="0" err="1">
                <a:solidFill>
                  <a:srgbClr val="64748B"/>
                </a:solidFill>
                <a:latin typeface="Calibri"/>
              </a:rPr>
              <a:t>memnuniyet</a:t>
            </a:r>
            <a:r>
              <a:rPr sz="15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1500" b="0" i="1" dirty="0" err="1">
                <a:solidFill>
                  <a:srgbClr val="64748B"/>
                </a:solidFill>
                <a:latin typeface="Calibri"/>
              </a:rPr>
              <a:t>sınıflandırması</a:t>
            </a:r>
            <a:endParaRPr sz="1500" b="0" i="1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548640" cy="4114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234440" y="1892807"/>
            <a:ext cx="1033272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0080" y="2194560"/>
            <a:ext cx="676656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177800" dist="50800" dir="5400000" algn="ctr" rotWithShape="0">
              <a:srgbClr val="0B1F3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2194560"/>
            <a:ext cx="73152" cy="1874519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00100" y="2354580"/>
            <a:ext cx="502920" cy="502920"/>
          </a:xfrm>
          <a:prstGeom prst="ellipse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0100" y="2354580"/>
            <a:ext cx="50292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441448"/>
            <a:ext cx="5760720" cy="2868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tr-TR" sz="1500" b="1" i="0" spc="300" dirty="0">
                <a:solidFill>
                  <a:srgbClr val="14B8A6"/>
                </a:solidFill>
                <a:latin typeface="Calibri"/>
              </a:rPr>
              <a:t>PROBLEM TANIMI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2971800"/>
            <a:ext cx="6217920" cy="82362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 dirty="0" err="1">
                <a:solidFill>
                  <a:srgbClr val="0F172A"/>
                </a:solidFill>
                <a:latin typeface="Calibri"/>
              </a:rPr>
              <a:t>Müşteriler</a:t>
            </a:r>
            <a:r>
              <a:rPr sz="1300" b="0" i="0" dirty="0">
                <a:solidFill>
                  <a:srgbClr val="0F172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F172A"/>
                </a:solidFill>
                <a:latin typeface="Calibri"/>
              </a:rPr>
              <a:t>satın</a:t>
            </a:r>
            <a:r>
              <a:rPr sz="1300" b="0" i="0" dirty="0">
                <a:solidFill>
                  <a:srgbClr val="0F172A"/>
                </a:solidFill>
                <a:latin typeface="Calibri"/>
              </a:rPr>
              <a:t> alma </a:t>
            </a:r>
            <a:r>
              <a:rPr sz="1300" b="0" i="0" dirty="0" err="1">
                <a:solidFill>
                  <a:srgbClr val="0F172A"/>
                </a:solidFill>
                <a:latin typeface="Calibri"/>
              </a:rPr>
              <a:t>kararlarını</a:t>
            </a:r>
            <a:r>
              <a:rPr sz="1300" b="0" i="0" dirty="0">
                <a:solidFill>
                  <a:srgbClr val="0F172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F172A"/>
                </a:solidFill>
                <a:latin typeface="Calibri"/>
              </a:rPr>
              <a:t>büyük</a:t>
            </a:r>
            <a:r>
              <a:rPr sz="1300" b="0" i="0" dirty="0">
                <a:solidFill>
                  <a:srgbClr val="0F172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F172A"/>
                </a:solidFill>
                <a:latin typeface="Calibri"/>
              </a:rPr>
              <a:t>ölçüde</a:t>
            </a:r>
            <a:r>
              <a:rPr sz="1300" b="0" i="0" dirty="0">
                <a:solidFill>
                  <a:srgbClr val="0F172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F172A"/>
                </a:solidFill>
                <a:latin typeface="Calibri"/>
              </a:rPr>
              <a:t>diğer</a:t>
            </a:r>
            <a:r>
              <a:rPr sz="1300" b="0" i="0" dirty="0">
                <a:solidFill>
                  <a:srgbClr val="0F172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F172A"/>
                </a:solidFill>
                <a:latin typeface="Calibri"/>
              </a:rPr>
              <a:t>kullanıcıların</a:t>
            </a:r>
            <a:r>
              <a:rPr sz="1300" b="0" i="0" dirty="0">
                <a:solidFill>
                  <a:srgbClr val="0F172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F172A"/>
                </a:solidFill>
                <a:latin typeface="Calibri"/>
              </a:rPr>
              <a:t>yorumlarına</a:t>
            </a:r>
            <a:r>
              <a:rPr sz="1300" b="0" i="0" dirty="0">
                <a:solidFill>
                  <a:srgbClr val="0F172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F172A"/>
                </a:solidFill>
                <a:latin typeface="Calibri"/>
              </a:rPr>
              <a:t>göre</a:t>
            </a:r>
            <a:r>
              <a:rPr sz="1300" b="0" i="0" dirty="0">
                <a:solidFill>
                  <a:srgbClr val="0F172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F172A"/>
                </a:solidFill>
                <a:latin typeface="Calibri"/>
              </a:rPr>
              <a:t>vermektedir</a:t>
            </a:r>
            <a:r>
              <a:rPr sz="1300" b="0" i="0" dirty="0">
                <a:solidFill>
                  <a:srgbClr val="0F172A"/>
                </a:solidFill>
                <a:latin typeface="Calibri"/>
              </a:rPr>
              <a:t>. Yüksek </a:t>
            </a:r>
            <a:r>
              <a:rPr sz="1300" b="0" i="0" dirty="0" err="1">
                <a:solidFill>
                  <a:srgbClr val="0F172A"/>
                </a:solidFill>
                <a:latin typeface="Calibri"/>
              </a:rPr>
              <a:t>hacimli</a:t>
            </a:r>
            <a:r>
              <a:rPr sz="1300" b="0" i="0" dirty="0">
                <a:solidFill>
                  <a:srgbClr val="0F172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F172A"/>
                </a:solidFill>
                <a:latin typeface="Calibri"/>
              </a:rPr>
              <a:t>yorumların</a:t>
            </a:r>
            <a:r>
              <a:rPr sz="1300" b="0" i="0" dirty="0">
                <a:solidFill>
                  <a:srgbClr val="0F172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F172A"/>
                </a:solidFill>
                <a:latin typeface="Calibri"/>
              </a:rPr>
              <a:t>manuel</a:t>
            </a:r>
            <a:r>
              <a:rPr sz="1300" b="0" i="0" dirty="0">
                <a:solidFill>
                  <a:srgbClr val="0F172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F172A"/>
                </a:solidFill>
                <a:latin typeface="Calibri"/>
              </a:rPr>
              <a:t>değerlendirilmesi</a:t>
            </a:r>
            <a:r>
              <a:rPr sz="1300" b="0" i="0" dirty="0">
                <a:solidFill>
                  <a:srgbClr val="0F172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F172A"/>
                </a:solidFill>
                <a:latin typeface="Calibri"/>
              </a:rPr>
              <a:t>pratik</a:t>
            </a:r>
            <a:r>
              <a:rPr sz="1300" b="0" i="0" dirty="0">
                <a:solidFill>
                  <a:srgbClr val="0F172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F172A"/>
                </a:solidFill>
                <a:latin typeface="Calibri"/>
              </a:rPr>
              <a:t>değildir</a:t>
            </a:r>
            <a:r>
              <a:rPr sz="1300" b="0" i="0" dirty="0">
                <a:solidFill>
                  <a:srgbClr val="0F172A"/>
                </a:solidFill>
                <a:latin typeface="Calibri"/>
              </a:rPr>
              <a:t>; </a:t>
            </a:r>
            <a:r>
              <a:rPr sz="1300" b="0" i="0" dirty="0" err="1">
                <a:solidFill>
                  <a:srgbClr val="0F172A"/>
                </a:solidFill>
                <a:latin typeface="Calibri"/>
              </a:rPr>
              <a:t>bu</a:t>
            </a:r>
            <a:r>
              <a:rPr sz="1300" b="0" i="0" dirty="0">
                <a:solidFill>
                  <a:srgbClr val="0F172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F172A"/>
                </a:solidFill>
                <a:latin typeface="Calibri"/>
              </a:rPr>
              <a:t>nedenle</a:t>
            </a:r>
            <a:r>
              <a:rPr sz="1300" b="0" i="0" dirty="0">
                <a:solidFill>
                  <a:srgbClr val="0F172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F172A"/>
                </a:solidFill>
                <a:latin typeface="Calibri"/>
              </a:rPr>
              <a:t>otomatik</a:t>
            </a:r>
            <a:r>
              <a:rPr sz="1300" b="0" i="0" dirty="0">
                <a:solidFill>
                  <a:srgbClr val="0F172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F172A"/>
                </a:solidFill>
                <a:latin typeface="Calibri"/>
              </a:rPr>
              <a:t>bir</a:t>
            </a:r>
            <a:r>
              <a:rPr sz="1300" b="0" i="0" dirty="0">
                <a:solidFill>
                  <a:srgbClr val="0F172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F172A"/>
                </a:solidFill>
                <a:latin typeface="Calibri"/>
              </a:rPr>
              <a:t>memnuniyet</a:t>
            </a:r>
            <a:r>
              <a:rPr sz="1300" b="0" i="0" dirty="0">
                <a:solidFill>
                  <a:srgbClr val="0F172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F172A"/>
                </a:solidFill>
                <a:latin typeface="Calibri"/>
              </a:rPr>
              <a:t>sınıflandırma</a:t>
            </a:r>
            <a:r>
              <a:rPr sz="1300" b="0" i="0" dirty="0">
                <a:solidFill>
                  <a:srgbClr val="0F172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F172A"/>
                </a:solidFill>
                <a:latin typeface="Calibri"/>
              </a:rPr>
              <a:t>sistemine</a:t>
            </a:r>
            <a:r>
              <a:rPr sz="1300" b="0" i="0" dirty="0">
                <a:solidFill>
                  <a:srgbClr val="0F172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F172A"/>
                </a:solidFill>
                <a:latin typeface="Calibri"/>
              </a:rPr>
              <a:t>ihtiyaç</a:t>
            </a:r>
            <a:r>
              <a:rPr sz="1300" b="0" i="0" dirty="0">
                <a:solidFill>
                  <a:srgbClr val="0F172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0F172A"/>
                </a:solidFill>
                <a:latin typeface="Calibri"/>
              </a:rPr>
              <a:t>vardır</a:t>
            </a:r>
            <a:r>
              <a:rPr sz="1300" b="0" i="0" dirty="0">
                <a:solidFill>
                  <a:srgbClr val="0F172A"/>
                </a:solidFill>
                <a:latin typeface="Calibri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160520"/>
            <a:ext cx="6766560" cy="1783080"/>
          </a:xfrm>
          <a:prstGeom prst="roundRect">
            <a:avLst>
              <a:gd name="adj" fmla="val 6000"/>
            </a:avLst>
          </a:prstGeom>
          <a:solidFill>
            <a:srgbClr val="0B1F33"/>
          </a:solidFill>
          <a:ln w="9525">
            <a:solidFill>
              <a:srgbClr val="0B1F33"/>
            </a:solidFill>
          </a:ln>
          <a:effectLst>
            <a:outerShdw blurRad="177800" dist="50800" dir="5400000" algn="ctr" rotWithShape="0">
              <a:srgbClr val="0B1F3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4160520"/>
            <a:ext cx="73152" cy="1783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00100" y="432054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0100" y="4320540"/>
            <a:ext cx="50292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B1F33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407408"/>
            <a:ext cx="5760720" cy="2868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 spc="300" dirty="0">
                <a:solidFill>
                  <a:srgbClr val="F59E0B"/>
                </a:solidFill>
                <a:latin typeface="Calibri"/>
              </a:rPr>
              <a:t>ARAŞTIRMA SORUSU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4910328"/>
            <a:ext cx="6217920" cy="10058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 dirty="0" err="1">
                <a:solidFill>
                  <a:srgbClr val="FFFFFF"/>
                </a:solidFill>
                <a:latin typeface="Calibri"/>
              </a:rPr>
              <a:t>Müşteri</a:t>
            </a:r>
            <a:r>
              <a:rPr sz="1400" b="0" i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FFFFFF"/>
                </a:solidFill>
                <a:latin typeface="Calibri"/>
              </a:rPr>
              <a:t>yorumlarındaki</a:t>
            </a:r>
            <a:r>
              <a:rPr sz="1400" b="0" i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FFFFFF"/>
                </a:solidFill>
                <a:latin typeface="Calibri"/>
              </a:rPr>
              <a:t>metin</a:t>
            </a:r>
            <a:r>
              <a:rPr sz="1400" b="0" i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FFFFFF"/>
                </a:solidFill>
                <a:latin typeface="Calibri"/>
              </a:rPr>
              <a:t>verisi</a:t>
            </a:r>
            <a:r>
              <a:rPr sz="1400" b="0" i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FFFFFF"/>
                </a:solidFill>
                <a:latin typeface="Calibri"/>
              </a:rPr>
              <a:t>kullanılarak</a:t>
            </a:r>
            <a:r>
              <a:rPr sz="1400" b="0" i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FFFFFF"/>
                </a:solidFill>
                <a:latin typeface="Calibri"/>
              </a:rPr>
              <a:t>memnuniyet</a:t>
            </a:r>
            <a:r>
              <a:rPr sz="1400" b="0" i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FFFFFF"/>
                </a:solidFill>
                <a:latin typeface="Calibri"/>
              </a:rPr>
              <a:t>düzeyi</a:t>
            </a:r>
            <a:r>
              <a:rPr sz="1400" b="0" i="1" dirty="0">
                <a:solidFill>
                  <a:srgbClr val="FFFFFF"/>
                </a:solidFill>
                <a:latin typeface="Calibri"/>
              </a:rPr>
              <a:t> (</a:t>
            </a:r>
            <a:r>
              <a:rPr sz="1400" b="0" i="1" dirty="0" err="1">
                <a:solidFill>
                  <a:srgbClr val="FFFFFF"/>
                </a:solidFill>
                <a:latin typeface="Calibri"/>
              </a:rPr>
              <a:t>pozitif</a:t>
            </a:r>
            <a:r>
              <a:rPr sz="1400" b="0" i="1" dirty="0">
                <a:solidFill>
                  <a:srgbClr val="FFFFFF"/>
                </a:solidFill>
                <a:latin typeface="Calibri"/>
              </a:rPr>
              <a:t> / </a:t>
            </a:r>
            <a:r>
              <a:rPr sz="1400" b="0" i="1" dirty="0" err="1">
                <a:solidFill>
                  <a:srgbClr val="FFFFFF"/>
                </a:solidFill>
                <a:latin typeface="Calibri"/>
              </a:rPr>
              <a:t>nötr</a:t>
            </a:r>
            <a:r>
              <a:rPr sz="1400" b="0" i="1" dirty="0">
                <a:solidFill>
                  <a:srgbClr val="FFFFFF"/>
                </a:solidFill>
                <a:latin typeface="Calibri"/>
              </a:rPr>
              <a:t> / </a:t>
            </a:r>
            <a:r>
              <a:rPr sz="1400" b="0" i="1" dirty="0" err="1">
                <a:solidFill>
                  <a:srgbClr val="FFFFFF"/>
                </a:solidFill>
                <a:latin typeface="Calibri"/>
              </a:rPr>
              <a:t>negatif</a:t>
            </a:r>
            <a:r>
              <a:rPr sz="1400" b="0" i="1" dirty="0">
                <a:solidFill>
                  <a:srgbClr val="FFFFFF"/>
                </a:solidFill>
                <a:latin typeface="Calibri"/>
              </a:rPr>
              <a:t>) ne </a:t>
            </a:r>
            <a:r>
              <a:rPr sz="1400" b="0" i="1" dirty="0" err="1">
                <a:solidFill>
                  <a:srgbClr val="FFFFFF"/>
                </a:solidFill>
                <a:latin typeface="Calibri"/>
              </a:rPr>
              <a:t>düzeyde</a:t>
            </a:r>
            <a:r>
              <a:rPr sz="1400" b="0" i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FFFFFF"/>
                </a:solidFill>
                <a:latin typeface="Calibri"/>
              </a:rPr>
              <a:t>doğrulukla</a:t>
            </a:r>
            <a:r>
              <a:rPr sz="1400" b="0" i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FFFFFF"/>
                </a:solidFill>
                <a:latin typeface="Calibri"/>
              </a:rPr>
              <a:t>tahmin</a:t>
            </a:r>
            <a:r>
              <a:rPr sz="1400" b="0" i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FFFFFF"/>
                </a:solidFill>
                <a:latin typeface="Calibri"/>
              </a:rPr>
              <a:t>edilebilir</a:t>
            </a:r>
            <a:r>
              <a:rPr sz="1400" b="0" i="1" dirty="0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0" y="2194560"/>
            <a:ext cx="3977639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177800" dist="50800" dir="5400000" algn="ctr" rotWithShape="0">
              <a:srgbClr val="0B1F3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589520" y="2194560"/>
            <a:ext cx="3977639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749540" y="2446020"/>
            <a:ext cx="502920" cy="502920"/>
          </a:xfrm>
          <a:prstGeom prst="ellipse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49540" y="2446020"/>
            <a:ext cx="50292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2532888"/>
            <a:ext cx="2971799" cy="2868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 spc="300" dirty="0">
                <a:solidFill>
                  <a:srgbClr val="14B8A6"/>
                </a:solidFill>
                <a:latin typeface="Calibri"/>
              </a:rPr>
              <a:t>HEDEFLENEN ÇIKTILAR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82128" y="3154680"/>
            <a:ext cx="3428999" cy="2170594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1" dirty="0">
                <a:solidFill>
                  <a:srgbClr val="14B8A6"/>
                </a:solidFill>
                <a:latin typeface="Calibri"/>
              </a:rPr>
              <a:t>▸  </a:t>
            </a:r>
            <a:r>
              <a:rPr sz="1300" dirty="0" err="1">
                <a:solidFill>
                  <a:srgbClr val="0F172A"/>
                </a:solidFill>
                <a:latin typeface="Calibri"/>
              </a:rPr>
              <a:t>Farklı</a:t>
            </a:r>
            <a:r>
              <a:rPr sz="1300" dirty="0">
                <a:solidFill>
                  <a:srgbClr val="0F172A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F172A"/>
                </a:solidFill>
                <a:latin typeface="Calibri"/>
              </a:rPr>
              <a:t>platformlardan</a:t>
            </a:r>
            <a:r>
              <a:rPr sz="1300" dirty="0">
                <a:solidFill>
                  <a:srgbClr val="0F172A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F172A"/>
                </a:solidFill>
                <a:latin typeface="Calibri"/>
              </a:rPr>
              <a:t>toplanmış</a:t>
            </a:r>
            <a:r>
              <a:rPr sz="1300" dirty="0">
                <a:solidFill>
                  <a:srgbClr val="0F172A"/>
                </a:solidFill>
                <a:latin typeface="Calibri"/>
              </a:rPr>
              <a:t>, </a:t>
            </a:r>
            <a:r>
              <a:rPr sz="1300" dirty="0" err="1">
                <a:solidFill>
                  <a:srgbClr val="0F172A"/>
                </a:solidFill>
                <a:latin typeface="Calibri"/>
              </a:rPr>
              <a:t>temizlenmiş</a:t>
            </a:r>
            <a:r>
              <a:rPr sz="1300" dirty="0">
                <a:solidFill>
                  <a:srgbClr val="0F172A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F172A"/>
                </a:solidFill>
                <a:latin typeface="Calibri"/>
              </a:rPr>
              <a:t>ve</a:t>
            </a:r>
            <a:r>
              <a:rPr sz="1300" dirty="0">
                <a:solidFill>
                  <a:srgbClr val="0F172A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F172A"/>
                </a:solidFill>
                <a:latin typeface="Calibri"/>
              </a:rPr>
              <a:t>etiketlenmiş</a:t>
            </a:r>
            <a:r>
              <a:rPr sz="1300" dirty="0">
                <a:solidFill>
                  <a:srgbClr val="0F172A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F172A"/>
                </a:solidFill>
                <a:latin typeface="Calibri"/>
              </a:rPr>
              <a:t>yorum</a:t>
            </a:r>
            <a:r>
              <a:rPr sz="1300" dirty="0">
                <a:solidFill>
                  <a:srgbClr val="0F172A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F172A"/>
                </a:solidFill>
                <a:latin typeface="Calibri"/>
              </a:rPr>
              <a:t>veri</a:t>
            </a:r>
            <a:r>
              <a:rPr sz="1300" dirty="0">
                <a:solidFill>
                  <a:srgbClr val="0F172A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F172A"/>
                </a:solidFill>
                <a:latin typeface="Calibri"/>
              </a:rPr>
              <a:t>seti</a:t>
            </a:r>
            <a:endParaRPr sz="1300" dirty="0">
              <a:solidFill>
                <a:srgbClr val="0F172A"/>
              </a:solidFill>
              <a:latin typeface="Calibri"/>
            </a:endParaRP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1" dirty="0">
                <a:solidFill>
                  <a:srgbClr val="14B8A6"/>
                </a:solidFill>
                <a:latin typeface="Calibri"/>
              </a:rPr>
              <a:t>▸  </a:t>
            </a:r>
            <a:r>
              <a:rPr sz="1300" dirty="0">
                <a:solidFill>
                  <a:srgbClr val="0F172A"/>
                </a:solidFill>
                <a:latin typeface="Calibri"/>
              </a:rPr>
              <a:t>En </a:t>
            </a:r>
            <a:r>
              <a:rPr sz="1300" dirty="0" err="1">
                <a:solidFill>
                  <a:srgbClr val="0F172A"/>
                </a:solidFill>
                <a:latin typeface="Calibri"/>
              </a:rPr>
              <a:t>az</a:t>
            </a:r>
            <a:r>
              <a:rPr sz="1300" dirty="0">
                <a:solidFill>
                  <a:srgbClr val="0F172A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F172A"/>
                </a:solidFill>
                <a:latin typeface="Calibri"/>
              </a:rPr>
              <a:t>iki</a:t>
            </a:r>
            <a:r>
              <a:rPr sz="1300" dirty="0">
                <a:solidFill>
                  <a:srgbClr val="0F172A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F172A"/>
                </a:solidFill>
                <a:latin typeface="Calibri"/>
              </a:rPr>
              <a:t>farklı</a:t>
            </a:r>
            <a:r>
              <a:rPr sz="1300" dirty="0">
                <a:solidFill>
                  <a:srgbClr val="0F172A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F172A"/>
                </a:solidFill>
                <a:latin typeface="Calibri"/>
              </a:rPr>
              <a:t>makine</a:t>
            </a:r>
            <a:r>
              <a:rPr sz="1300" dirty="0">
                <a:solidFill>
                  <a:srgbClr val="0F172A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F172A"/>
                </a:solidFill>
                <a:latin typeface="Calibri"/>
              </a:rPr>
              <a:t>öğrenmesi</a:t>
            </a:r>
            <a:r>
              <a:rPr sz="1300" dirty="0">
                <a:solidFill>
                  <a:srgbClr val="0F172A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F172A"/>
                </a:solidFill>
                <a:latin typeface="Calibri"/>
              </a:rPr>
              <a:t>modeli</a:t>
            </a:r>
            <a:r>
              <a:rPr sz="1300" dirty="0">
                <a:solidFill>
                  <a:srgbClr val="0F172A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F172A"/>
                </a:solidFill>
                <a:latin typeface="Calibri"/>
              </a:rPr>
              <a:t>ve</a:t>
            </a:r>
            <a:r>
              <a:rPr sz="1300" dirty="0">
                <a:solidFill>
                  <a:srgbClr val="0F172A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F172A"/>
                </a:solidFill>
                <a:latin typeface="Calibri"/>
              </a:rPr>
              <a:t>karşılaştırmalı</a:t>
            </a:r>
            <a:r>
              <a:rPr sz="1300" dirty="0">
                <a:solidFill>
                  <a:srgbClr val="0F172A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F172A"/>
                </a:solidFill>
                <a:latin typeface="Calibri"/>
              </a:rPr>
              <a:t>performans</a:t>
            </a:r>
            <a:r>
              <a:rPr sz="1300" dirty="0">
                <a:solidFill>
                  <a:srgbClr val="0F172A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F172A"/>
                </a:solidFill>
                <a:latin typeface="Calibri"/>
              </a:rPr>
              <a:t>analizi</a:t>
            </a:r>
            <a:endParaRPr sz="1300" dirty="0">
              <a:solidFill>
                <a:srgbClr val="0F172A"/>
              </a:solidFill>
              <a:latin typeface="Calibri"/>
            </a:endParaRP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1" dirty="0">
                <a:solidFill>
                  <a:srgbClr val="14B8A6"/>
                </a:solidFill>
                <a:latin typeface="Calibri"/>
              </a:rPr>
              <a:t>▸  </a:t>
            </a:r>
            <a:r>
              <a:rPr sz="1300" dirty="0" err="1">
                <a:solidFill>
                  <a:srgbClr val="0F172A"/>
                </a:solidFill>
                <a:latin typeface="Calibri"/>
              </a:rPr>
              <a:t>Sonuçları</a:t>
            </a:r>
            <a:r>
              <a:rPr sz="1300" dirty="0">
                <a:solidFill>
                  <a:srgbClr val="0F172A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F172A"/>
                </a:solidFill>
                <a:latin typeface="Calibri"/>
              </a:rPr>
              <a:t>destekleyen</a:t>
            </a:r>
            <a:r>
              <a:rPr sz="1300" dirty="0">
                <a:solidFill>
                  <a:srgbClr val="0F172A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F172A"/>
                </a:solidFill>
                <a:latin typeface="Calibri"/>
              </a:rPr>
              <a:t>metrikler</a:t>
            </a:r>
            <a:r>
              <a:rPr sz="1300" dirty="0">
                <a:solidFill>
                  <a:srgbClr val="0F172A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F172A"/>
                </a:solidFill>
                <a:latin typeface="Calibri"/>
              </a:rPr>
              <a:t>ile</a:t>
            </a:r>
            <a:r>
              <a:rPr sz="1300" dirty="0">
                <a:solidFill>
                  <a:srgbClr val="0F172A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F172A"/>
                </a:solidFill>
                <a:latin typeface="Calibri"/>
              </a:rPr>
              <a:t>görselleştirmeler</a:t>
            </a:r>
            <a:r>
              <a:rPr sz="1300" dirty="0">
                <a:solidFill>
                  <a:srgbClr val="0F172A"/>
                </a:solidFill>
                <a:latin typeface="Calibri"/>
              </a:rPr>
              <a:t> (</a:t>
            </a:r>
            <a:r>
              <a:rPr sz="1300" dirty="0" err="1">
                <a:solidFill>
                  <a:srgbClr val="0F172A"/>
                </a:solidFill>
                <a:latin typeface="Calibri"/>
              </a:rPr>
              <a:t>grafik</a:t>
            </a:r>
            <a:r>
              <a:rPr sz="1300" dirty="0">
                <a:solidFill>
                  <a:srgbClr val="0F172A"/>
                </a:solidFill>
                <a:latin typeface="Calibri"/>
              </a:rPr>
              <a:t>, </a:t>
            </a:r>
            <a:r>
              <a:rPr sz="1300" dirty="0" err="1">
                <a:solidFill>
                  <a:srgbClr val="0F172A"/>
                </a:solidFill>
                <a:latin typeface="Calibri"/>
              </a:rPr>
              <a:t>kelime</a:t>
            </a:r>
            <a:r>
              <a:rPr sz="1300" dirty="0">
                <a:solidFill>
                  <a:srgbClr val="0F172A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F172A"/>
                </a:solidFill>
                <a:latin typeface="Calibri"/>
              </a:rPr>
              <a:t>bulutu</a:t>
            </a:r>
            <a:r>
              <a:rPr sz="1300" dirty="0">
                <a:solidFill>
                  <a:srgbClr val="0F172A"/>
                </a:solidFill>
                <a:latin typeface="Calibri"/>
              </a:rPr>
              <a:t> vb.)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1" dirty="0">
                <a:solidFill>
                  <a:srgbClr val="14B8A6"/>
                </a:solidFill>
                <a:latin typeface="Calibri"/>
              </a:rPr>
              <a:t>▸  </a:t>
            </a:r>
            <a:r>
              <a:rPr sz="1300" dirty="0">
                <a:solidFill>
                  <a:srgbClr val="0F172A"/>
                </a:solidFill>
                <a:latin typeface="Calibri"/>
              </a:rPr>
              <a:t>Final </a:t>
            </a:r>
            <a:r>
              <a:rPr sz="1300" dirty="0" err="1">
                <a:solidFill>
                  <a:srgbClr val="0F172A"/>
                </a:solidFill>
                <a:latin typeface="Calibri"/>
              </a:rPr>
              <a:t>raporu</a:t>
            </a:r>
            <a:r>
              <a:rPr sz="1300" dirty="0">
                <a:solidFill>
                  <a:srgbClr val="0F172A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F172A"/>
                </a:solidFill>
                <a:latin typeface="Calibri"/>
              </a:rPr>
              <a:t>ve</a:t>
            </a:r>
            <a:r>
              <a:rPr sz="1300" dirty="0">
                <a:solidFill>
                  <a:srgbClr val="0F172A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F172A"/>
                </a:solidFill>
                <a:latin typeface="Calibri"/>
              </a:rPr>
              <a:t>dönem</a:t>
            </a:r>
            <a:r>
              <a:rPr sz="1300" dirty="0">
                <a:solidFill>
                  <a:srgbClr val="0F172A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F172A"/>
                </a:solidFill>
                <a:latin typeface="Calibri"/>
              </a:rPr>
              <a:t>sonu</a:t>
            </a:r>
            <a:r>
              <a:rPr sz="1300" dirty="0">
                <a:solidFill>
                  <a:srgbClr val="0F172A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0F172A"/>
                </a:solidFill>
                <a:latin typeface="Calibri"/>
              </a:rPr>
              <a:t>sunumu</a:t>
            </a:r>
            <a:endParaRPr sz="1300" dirty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640080" y="6565392"/>
            <a:ext cx="73152" cy="7315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80">
                <a:solidFill>
                  <a:srgbClr val="64748B"/>
                </a:solidFill>
                <a:latin typeface="Calibri"/>
              </a:rPr>
              <a:t>Veri Madenciliği Dersi  •  Müşteri Memnuniyeti Analizi  •  Ara Sunum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446520"/>
            <a:ext cx="1673352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 spc="80">
                <a:solidFill>
                  <a:srgbClr val="1F4066"/>
                </a:solidFill>
                <a:latin typeface="Calibri"/>
              </a:rPr>
              <a:t>Sayfa 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607040" y="-1463040"/>
            <a:ext cx="3291840" cy="3291840"/>
          </a:xfrm>
          <a:prstGeom prst="ellipse">
            <a:avLst/>
          </a:prstGeom>
          <a:solidFill>
            <a:srgbClr val="CCFBF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731520" y="5669280"/>
            <a:ext cx="2011680" cy="2011680"/>
          </a:xfrm>
          <a:prstGeom prst="ellipse">
            <a:avLst/>
          </a:prstGeom>
          <a:solidFill>
            <a:srgbClr val="FEF3C7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424160" y="228600"/>
            <a:ext cx="1554480" cy="1417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0" b="1" i="0">
                <a:solidFill>
                  <a:srgbClr val="CCFBF1"/>
                </a:solidFill>
                <a:latin typeface="Calibr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14B8A6"/>
                </a:solidFill>
                <a:latin typeface="Calibri"/>
              </a:rPr>
              <a:t>BÖLÜM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77240"/>
            <a:ext cx="96012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 dirty="0">
                <a:solidFill>
                  <a:srgbClr val="0B1F33"/>
                </a:solidFill>
                <a:latin typeface="Calibri"/>
              </a:rPr>
              <a:t>Veri </a:t>
            </a:r>
            <a:r>
              <a:rPr sz="3000" b="1" i="0" dirty="0" err="1">
                <a:solidFill>
                  <a:srgbClr val="0B1F33"/>
                </a:solidFill>
                <a:latin typeface="Calibri"/>
              </a:rPr>
              <a:t>Kaynakları</a:t>
            </a:r>
            <a:r>
              <a:rPr sz="3000" b="1" i="0" dirty="0">
                <a:solidFill>
                  <a:srgbClr val="0B1F33"/>
                </a:solidFill>
                <a:latin typeface="Calibri"/>
              </a:rPr>
              <a:t> </a:t>
            </a:r>
            <a:r>
              <a:rPr sz="3000" b="1" i="0" dirty="0" err="1">
                <a:solidFill>
                  <a:srgbClr val="0B1F33"/>
                </a:solidFill>
                <a:latin typeface="Calibri"/>
              </a:rPr>
              <a:t>ve</a:t>
            </a:r>
            <a:r>
              <a:rPr sz="3000" b="1" i="0" dirty="0">
                <a:solidFill>
                  <a:srgbClr val="0B1F33"/>
                </a:solidFill>
                <a:latin typeface="Calibri"/>
              </a:rPr>
              <a:t> Toplama </a:t>
            </a:r>
            <a:r>
              <a:rPr sz="3000" b="1" i="0" dirty="0" err="1">
                <a:solidFill>
                  <a:srgbClr val="0B1F33"/>
                </a:solidFill>
                <a:latin typeface="Calibri"/>
              </a:rPr>
              <a:t>Yöntemi</a:t>
            </a:r>
            <a:endParaRPr sz="3000" b="1" i="0" dirty="0">
              <a:solidFill>
                <a:srgbClr val="0B1F33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9601200" cy="2868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 dirty="0" err="1">
                <a:solidFill>
                  <a:srgbClr val="64748B"/>
                </a:solidFill>
                <a:latin typeface="Calibri"/>
              </a:rPr>
              <a:t>Çok</a:t>
            </a:r>
            <a:r>
              <a:rPr sz="15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1500" b="0" i="1" dirty="0" err="1">
                <a:solidFill>
                  <a:srgbClr val="64748B"/>
                </a:solidFill>
                <a:latin typeface="Calibri"/>
              </a:rPr>
              <a:t>platformlu</a:t>
            </a:r>
            <a:r>
              <a:rPr sz="1500" b="0" i="1" dirty="0">
                <a:solidFill>
                  <a:srgbClr val="64748B"/>
                </a:solidFill>
                <a:latin typeface="Calibri"/>
              </a:rPr>
              <a:t> web scraping </a:t>
            </a:r>
            <a:r>
              <a:rPr sz="1500" b="0" i="1" dirty="0" err="1">
                <a:solidFill>
                  <a:srgbClr val="64748B"/>
                </a:solidFill>
                <a:latin typeface="Calibri"/>
              </a:rPr>
              <a:t>yaklaşımı</a:t>
            </a:r>
            <a:endParaRPr sz="1500" b="0" i="1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548640" cy="4114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234440" y="1892807"/>
            <a:ext cx="1033272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0080" y="2194560"/>
            <a:ext cx="553212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177800" dist="50800" dir="5400000" algn="ctr" rotWithShape="0">
              <a:srgbClr val="0B1F3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2194560"/>
            <a:ext cx="553212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395728"/>
            <a:ext cx="4892040" cy="25346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tr-TR" sz="1300" b="1" i="0" spc="300" dirty="0">
                <a:solidFill>
                  <a:srgbClr val="14B8A6"/>
                </a:solidFill>
                <a:latin typeface="Calibri"/>
              </a:rPr>
              <a:t>HEDEFLENEN PLATFORMLAR</a:t>
            </a:r>
            <a:endParaRPr sz="1300" b="1" i="0" spc="300" dirty="0">
              <a:solidFill>
                <a:srgbClr val="14B8A6"/>
              </a:solidFill>
              <a:latin typeface="Calibri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1005840" y="2944368"/>
            <a:ext cx="146304" cy="14630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80160" y="2834640"/>
            <a:ext cx="2011680" cy="25346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dirty="0">
                <a:solidFill>
                  <a:srgbClr val="0B1F33"/>
                </a:solidFill>
                <a:latin typeface="Calibri"/>
              </a:rPr>
              <a:t>Trustpilot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852928"/>
            <a:ext cx="2377440" cy="25346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 dirty="0" err="1">
                <a:solidFill>
                  <a:srgbClr val="64748B"/>
                </a:solidFill>
                <a:latin typeface="Calibri"/>
              </a:rPr>
              <a:t>işletme</a:t>
            </a:r>
            <a:r>
              <a:rPr sz="1300" b="0" i="0" dirty="0">
                <a:solidFill>
                  <a:srgbClr val="64748B"/>
                </a:solidFill>
                <a:latin typeface="Calibri"/>
              </a:rPr>
              <a:t>/</a:t>
            </a:r>
            <a:r>
              <a:rPr sz="1300" b="0" i="0" dirty="0" err="1">
                <a:solidFill>
                  <a:srgbClr val="64748B"/>
                </a:solidFill>
                <a:latin typeface="Calibri"/>
              </a:rPr>
              <a:t>hizmet</a:t>
            </a:r>
            <a:r>
              <a:rPr sz="13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64748B"/>
                </a:solidFill>
                <a:latin typeface="Calibri"/>
              </a:rPr>
              <a:t>yorumları</a:t>
            </a:r>
            <a:endParaRPr sz="1300" b="0" i="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257800" y="2871216"/>
            <a:ext cx="852885" cy="323697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57800" y="2931306"/>
            <a:ext cx="852885" cy="203517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dirty="0" err="1">
                <a:solidFill>
                  <a:srgbClr val="1F4066"/>
                </a:solidFill>
                <a:latin typeface="Calibri"/>
              </a:rPr>
              <a:t>Toplanıyor</a:t>
            </a:r>
            <a:endParaRPr sz="1000" b="1" i="0" dirty="0">
              <a:solidFill>
                <a:srgbClr val="1F4066"/>
              </a:solidFill>
              <a:latin typeface="Calibri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1005840" y="3310128"/>
            <a:ext cx="146304" cy="14630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80160" y="3200400"/>
            <a:ext cx="2011680" cy="25346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dirty="0" err="1">
                <a:solidFill>
                  <a:srgbClr val="0B1F33"/>
                </a:solidFill>
                <a:latin typeface="Calibri"/>
              </a:rPr>
              <a:t>Sitejabber</a:t>
            </a:r>
            <a:endParaRPr sz="1300" b="1" i="0" dirty="0">
              <a:solidFill>
                <a:srgbClr val="0B1F33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017520" y="3218688"/>
            <a:ext cx="2377440" cy="25346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 dirty="0">
                <a:solidFill>
                  <a:srgbClr val="64748B"/>
                </a:solidFill>
                <a:latin typeface="Calibri"/>
              </a:rPr>
              <a:t>e-</a:t>
            </a:r>
            <a:r>
              <a:rPr sz="1300" b="0" i="0" dirty="0" err="1">
                <a:solidFill>
                  <a:srgbClr val="64748B"/>
                </a:solidFill>
                <a:latin typeface="Calibri"/>
              </a:rPr>
              <a:t>ticaret</a:t>
            </a:r>
            <a:r>
              <a:rPr sz="13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64748B"/>
                </a:solidFill>
                <a:latin typeface="Calibri"/>
              </a:rPr>
              <a:t>yorumları</a:t>
            </a:r>
            <a:endParaRPr sz="1300" b="0" i="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257800" y="3236976"/>
            <a:ext cx="852885" cy="323697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57800" y="3297066"/>
            <a:ext cx="852885" cy="203517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dirty="0" err="1">
                <a:solidFill>
                  <a:srgbClr val="1F4066"/>
                </a:solidFill>
                <a:latin typeface="Calibri"/>
              </a:rPr>
              <a:t>Toplanıyor</a:t>
            </a:r>
            <a:endParaRPr sz="1000" b="1" i="0" dirty="0">
              <a:solidFill>
                <a:srgbClr val="1F4066"/>
              </a:solidFill>
              <a:latin typeface="Calibri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1005840" y="3675888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80160" y="3566160"/>
            <a:ext cx="2011680" cy="25346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dirty="0">
                <a:solidFill>
                  <a:srgbClr val="0B1F33"/>
                </a:solidFill>
                <a:latin typeface="Calibri"/>
              </a:rPr>
              <a:t>Yelp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3584448"/>
            <a:ext cx="2377440" cy="25346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 dirty="0" err="1">
                <a:solidFill>
                  <a:srgbClr val="64748B"/>
                </a:solidFill>
                <a:latin typeface="Calibri"/>
              </a:rPr>
              <a:t>işletme</a:t>
            </a:r>
            <a:r>
              <a:rPr sz="13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64748B"/>
                </a:solidFill>
                <a:latin typeface="Calibri"/>
              </a:rPr>
              <a:t>yorumları</a:t>
            </a:r>
            <a:endParaRPr sz="1300" b="0" i="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257800" y="3602736"/>
            <a:ext cx="905256" cy="323697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257800" y="3662826"/>
            <a:ext cx="905256" cy="203517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dirty="0" err="1">
                <a:solidFill>
                  <a:srgbClr val="1F4066"/>
                </a:solidFill>
                <a:latin typeface="Calibri"/>
              </a:rPr>
              <a:t>Planlanıyor</a:t>
            </a:r>
            <a:endParaRPr sz="1000" b="1" i="0" dirty="0">
              <a:solidFill>
                <a:srgbClr val="1F4066"/>
              </a:solidFill>
              <a:latin typeface="Calibri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1005840" y="4041648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280160" y="3931920"/>
            <a:ext cx="2011680" cy="25346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dirty="0">
                <a:solidFill>
                  <a:srgbClr val="0B1F33"/>
                </a:solidFill>
                <a:latin typeface="Calibri"/>
              </a:rPr>
              <a:t>Google Reviews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3950208"/>
            <a:ext cx="2377440" cy="25346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 dirty="0" err="1">
                <a:solidFill>
                  <a:srgbClr val="64748B"/>
                </a:solidFill>
                <a:latin typeface="Calibri"/>
              </a:rPr>
              <a:t>işletme</a:t>
            </a:r>
            <a:r>
              <a:rPr sz="13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64748B"/>
                </a:solidFill>
                <a:latin typeface="Calibri"/>
              </a:rPr>
              <a:t>yorumları</a:t>
            </a:r>
            <a:endParaRPr sz="1300" b="0" i="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257800" y="3968496"/>
            <a:ext cx="905256" cy="323697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257800" y="4028586"/>
            <a:ext cx="905256" cy="203517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 dirty="0" err="1">
                <a:solidFill>
                  <a:srgbClr val="1F4066"/>
                </a:solidFill>
                <a:latin typeface="Calibri"/>
              </a:rPr>
              <a:t>Planlanıyor</a:t>
            </a:r>
            <a:endParaRPr sz="1000" b="1" i="0" dirty="0">
              <a:solidFill>
                <a:srgbClr val="1F4066"/>
              </a:solidFill>
              <a:latin typeface="Calibri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355080" y="2194560"/>
            <a:ext cx="521208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177800" dist="50800" dir="5400000" algn="ctr" rotWithShape="0">
              <a:srgbClr val="0B1F3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355080" y="2194560"/>
            <a:ext cx="52120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75120" y="2395728"/>
            <a:ext cx="4572000" cy="25346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spc="300" dirty="0">
                <a:solidFill>
                  <a:srgbClr val="F59E0B"/>
                </a:solidFill>
                <a:latin typeface="Calibri"/>
              </a:rPr>
              <a:t>TOPLANAN ALANLAR</a:t>
            </a:r>
          </a:p>
        </p:txBody>
      </p:sp>
      <p:sp>
        <p:nvSpPr>
          <p:cNvPr id="37" name="Oval 36"/>
          <p:cNvSpPr/>
          <p:nvPr/>
        </p:nvSpPr>
        <p:spPr>
          <a:xfrm>
            <a:off x="6720840" y="2953512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903720" y="2834640"/>
            <a:ext cx="2377440" cy="25346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dirty="0" err="1">
                <a:solidFill>
                  <a:srgbClr val="0F172A"/>
                </a:solidFill>
                <a:latin typeface="Calibri"/>
              </a:rPr>
              <a:t>Yorum</a:t>
            </a:r>
            <a:r>
              <a:rPr sz="1300" b="1" i="0" dirty="0">
                <a:solidFill>
                  <a:srgbClr val="0F172A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0F172A"/>
                </a:solidFill>
                <a:latin typeface="Calibri"/>
              </a:rPr>
              <a:t>metni</a:t>
            </a:r>
            <a:endParaRPr sz="1300" b="1" i="0" dirty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189720" y="2852928"/>
            <a:ext cx="2194560" cy="25237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 dirty="0" err="1">
                <a:solidFill>
                  <a:srgbClr val="64748B"/>
                </a:solidFill>
                <a:latin typeface="Consolas"/>
              </a:rPr>
              <a:t>review_text</a:t>
            </a:r>
            <a:endParaRPr sz="1300" b="0" i="1" dirty="0">
              <a:solidFill>
                <a:srgbClr val="64748B"/>
              </a:solidFill>
              <a:latin typeface="Consolas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6720840" y="324612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903720" y="3127248"/>
            <a:ext cx="2377440" cy="25346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dirty="0">
                <a:solidFill>
                  <a:srgbClr val="0F172A"/>
                </a:solidFill>
                <a:latin typeface="Calibri"/>
              </a:rPr>
              <a:t>Yıldız </a:t>
            </a:r>
            <a:r>
              <a:rPr sz="1300" b="1" i="0" dirty="0" err="1">
                <a:solidFill>
                  <a:srgbClr val="0F172A"/>
                </a:solidFill>
                <a:latin typeface="Calibri"/>
              </a:rPr>
              <a:t>puanı</a:t>
            </a:r>
            <a:endParaRPr sz="1300" b="1" i="0" dirty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189720" y="3145536"/>
            <a:ext cx="2194560" cy="25237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 dirty="0">
                <a:solidFill>
                  <a:srgbClr val="64748B"/>
                </a:solidFill>
                <a:latin typeface="Consolas"/>
              </a:rPr>
              <a:t>rating</a:t>
            </a:r>
          </a:p>
        </p:txBody>
      </p:sp>
      <p:sp>
        <p:nvSpPr>
          <p:cNvPr id="43" name="Oval 42"/>
          <p:cNvSpPr/>
          <p:nvPr/>
        </p:nvSpPr>
        <p:spPr>
          <a:xfrm>
            <a:off x="6720840" y="3538728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903720" y="3419856"/>
            <a:ext cx="2377440" cy="25346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dirty="0" err="1">
                <a:solidFill>
                  <a:srgbClr val="0F172A"/>
                </a:solidFill>
                <a:latin typeface="Calibri"/>
              </a:rPr>
              <a:t>Yorum</a:t>
            </a:r>
            <a:r>
              <a:rPr sz="1300" b="1" i="0" dirty="0">
                <a:solidFill>
                  <a:srgbClr val="0F172A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0F172A"/>
                </a:solidFill>
                <a:latin typeface="Calibri"/>
              </a:rPr>
              <a:t>tarihi</a:t>
            </a:r>
            <a:endParaRPr sz="1300" b="1" i="0" dirty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189720" y="3438144"/>
            <a:ext cx="2194560" cy="25237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 dirty="0" err="1">
                <a:solidFill>
                  <a:srgbClr val="64748B"/>
                </a:solidFill>
                <a:latin typeface="Consolas"/>
              </a:rPr>
              <a:t>review_date</a:t>
            </a:r>
            <a:endParaRPr sz="1300" b="0" i="1" dirty="0">
              <a:solidFill>
                <a:srgbClr val="64748B"/>
              </a:solidFill>
              <a:latin typeface="Consolas"/>
            </a:endParaRPr>
          </a:p>
        </p:txBody>
      </p:sp>
      <p:sp>
        <p:nvSpPr>
          <p:cNvPr id="46" name="Oval 45"/>
          <p:cNvSpPr/>
          <p:nvPr/>
        </p:nvSpPr>
        <p:spPr>
          <a:xfrm>
            <a:off x="6720840" y="3831336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903720" y="3712464"/>
            <a:ext cx="2377440" cy="25346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dirty="0">
                <a:solidFill>
                  <a:srgbClr val="0F172A"/>
                </a:solidFill>
                <a:latin typeface="Calibri"/>
              </a:rPr>
              <a:t>Platform / </a:t>
            </a:r>
            <a:r>
              <a:rPr sz="1300" b="1" i="0" dirty="0" err="1">
                <a:solidFill>
                  <a:srgbClr val="0F172A"/>
                </a:solidFill>
                <a:latin typeface="Calibri"/>
              </a:rPr>
              <a:t>kaynak</a:t>
            </a:r>
            <a:r>
              <a:rPr sz="1300" b="1" i="0" dirty="0">
                <a:solidFill>
                  <a:srgbClr val="0F172A"/>
                </a:solidFill>
                <a:latin typeface="Calibri"/>
              </a:rPr>
              <a:t> URL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89720" y="3730752"/>
            <a:ext cx="2194560" cy="25237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 dirty="0" err="1">
                <a:solidFill>
                  <a:srgbClr val="64748B"/>
                </a:solidFill>
                <a:latin typeface="Consolas"/>
              </a:rPr>
              <a:t>source_url</a:t>
            </a:r>
            <a:endParaRPr sz="1300" b="0" i="1" dirty="0">
              <a:solidFill>
                <a:srgbClr val="64748B"/>
              </a:solidFill>
              <a:latin typeface="Consolas"/>
            </a:endParaRPr>
          </a:p>
        </p:txBody>
      </p:sp>
      <p:sp>
        <p:nvSpPr>
          <p:cNvPr id="49" name="Oval 48"/>
          <p:cNvSpPr/>
          <p:nvPr/>
        </p:nvSpPr>
        <p:spPr>
          <a:xfrm>
            <a:off x="6720840" y="4123944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903720" y="4005072"/>
            <a:ext cx="2377440" cy="25346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dirty="0" err="1">
                <a:solidFill>
                  <a:srgbClr val="0F172A"/>
                </a:solidFill>
                <a:latin typeface="Calibri"/>
              </a:rPr>
              <a:t>Yorumcu</a:t>
            </a:r>
            <a:r>
              <a:rPr sz="1300" b="1" i="0" dirty="0">
                <a:solidFill>
                  <a:srgbClr val="0F172A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0F172A"/>
                </a:solidFill>
                <a:latin typeface="Calibri"/>
              </a:rPr>
              <a:t>adı</a:t>
            </a:r>
            <a:endParaRPr sz="1300" b="1" i="0" dirty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9189720" y="4023360"/>
            <a:ext cx="2194560" cy="25237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 dirty="0">
                <a:solidFill>
                  <a:srgbClr val="64748B"/>
                </a:solidFill>
                <a:latin typeface="Consolas"/>
              </a:rPr>
              <a:t>(</a:t>
            </a:r>
            <a:r>
              <a:rPr sz="1300" b="0" i="1" dirty="0" err="1">
                <a:solidFill>
                  <a:srgbClr val="64748B"/>
                </a:solidFill>
                <a:latin typeface="Consolas"/>
              </a:rPr>
              <a:t>mevcutsa</a:t>
            </a:r>
            <a:r>
              <a:rPr sz="1300" b="0" i="1" dirty="0">
                <a:solidFill>
                  <a:srgbClr val="64748B"/>
                </a:solidFill>
                <a:latin typeface="Consolas"/>
              </a:rPr>
              <a:t>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0080" y="4526280"/>
            <a:ext cx="1092708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177800" dist="50800" dir="5400000" algn="ctr" rotWithShape="0">
              <a:srgbClr val="0B1F3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40080" y="4526280"/>
            <a:ext cx="73152" cy="17830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60120" y="4727448"/>
            <a:ext cx="10287000" cy="25346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spc="300" dirty="0">
                <a:solidFill>
                  <a:srgbClr val="0B1F33"/>
                </a:solidFill>
                <a:latin typeface="Calibri"/>
              </a:rPr>
              <a:t>KULLANILAN YÖNTEM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0120" y="5166360"/>
            <a:ext cx="5120640" cy="1108124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1" dirty="0">
                <a:solidFill>
                  <a:srgbClr val="14B8A6"/>
                </a:solidFill>
                <a:latin typeface="Calibri"/>
              </a:rPr>
              <a:t>▸  </a:t>
            </a:r>
            <a:r>
              <a:rPr sz="1200" dirty="0">
                <a:solidFill>
                  <a:srgbClr val="0F172A"/>
                </a:solidFill>
                <a:latin typeface="Calibri"/>
              </a:rPr>
              <a:t>Selenium +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ChromeDriver</a:t>
            </a:r>
            <a:r>
              <a:rPr sz="1200" dirty="0">
                <a:solidFill>
                  <a:srgbClr val="0F172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ile</a:t>
            </a:r>
            <a:r>
              <a:rPr sz="1200" dirty="0">
                <a:solidFill>
                  <a:srgbClr val="0F172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başsız</a:t>
            </a:r>
            <a:r>
              <a:rPr sz="1200" dirty="0">
                <a:solidFill>
                  <a:srgbClr val="0F172A"/>
                </a:solidFill>
                <a:latin typeface="Calibri"/>
              </a:rPr>
              <a:t> (headless)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tarayıcı</a:t>
            </a:r>
            <a:r>
              <a:rPr sz="1200" dirty="0">
                <a:solidFill>
                  <a:srgbClr val="0F172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oturumu</a:t>
            </a:r>
            <a:endParaRPr sz="1200" dirty="0">
              <a:solidFill>
                <a:srgbClr val="0F172A"/>
              </a:solidFill>
              <a:latin typeface="Calibri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1" dirty="0">
                <a:solidFill>
                  <a:srgbClr val="14B8A6"/>
                </a:solidFill>
                <a:latin typeface="Calibri"/>
              </a:rPr>
              <a:t>▸ 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Sayfa</a:t>
            </a:r>
            <a:r>
              <a:rPr sz="1200" dirty="0">
                <a:solidFill>
                  <a:srgbClr val="0F172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kaynağı</a:t>
            </a:r>
            <a:r>
              <a:rPr sz="1200" dirty="0">
                <a:solidFill>
                  <a:srgbClr val="0F172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BeautifulSoup</a:t>
            </a:r>
            <a:r>
              <a:rPr sz="1200" dirty="0">
                <a:solidFill>
                  <a:srgbClr val="0F172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ile</a:t>
            </a:r>
            <a:r>
              <a:rPr sz="1200" dirty="0">
                <a:solidFill>
                  <a:srgbClr val="0F172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ayrıştırılarak</a:t>
            </a:r>
            <a:r>
              <a:rPr sz="1200" dirty="0">
                <a:solidFill>
                  <a:srgbClr val="0F172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yapılandırılmış</a:t>
            </a:r>
            <a:r>
              <a:rPr sz="1200" dirty="0">
                <a:solidFill>
                  <a:srgbClr val="0F172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veri</a:t>
            </a:r>
            <a:r>
              <a:rPr sz="1200" dirty="0">
                <a:solidFill>
                  <a:srgbClr val="0F172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elde</a:t>
            </a:r>
            <a:r>
              <a:rPr sz="1200" dirty="0">
                <a:solidFill>
                  <a:srgbClr val="0F172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edilir</a:t>
            </a:r>
            <a:endParaRPr sz="1200" dirty="0">
              <a:solidFill>
                <a:srgbClr val="0F172A"/>
              </a:solidFill>
              <a:latin typeface="Calibri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1" dirty="0">
                <a:solidFill>
                  <a:srgbClr val="14B8A6"/>
                </a:solidFill>
                <a:latin typeface="Calibri"/>
              </a:rPr>
              <a:t>▸  </a:t>
            </a:r>
            <a:r>
              <a:rPr sz="1200" dirty="0">
                <a:solidFill>
                  <a:srgbClr val="0F172A"/>
                </a:solidFill>
                <a:latin typeface="Calibri"/>
              </a:rPr>
              <a:t>JSON-LD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verisi</a:t>
            </a:r>
            <a:r>
              <a:rPr sz="1200" dirty="0">
                <a:solidFill>
                  <a:srgbClr val="0F172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öncelikli</a:t>
            </a:r>
            <a:r>
              <a:rPr sz="1200" dirty="0">
                <a:solidFill>
                  <a:srgbClr val="0F172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okunur</a:t>
            </a:r>
            <a:r>
              <a:rPr sz="1200" dirty="0">
                <a:solidFill>
                  <a:srgbClr val="0F172A"/>
                </a:solidFill>
                <a:latin typeface="Calibri"/>
              </a:rPr>
              <a:t>;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yapı</a:t>
            </a:r>
            <a:r>
              <a:rPr sz="1200" dirty="0">
                <a:solidFill>
                  <a:srgbClr val="0F172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değişirse</a:t>
            </a:r>
            <a:r>
              <a:rPr sz="1200" dirty="0">
                <a:solidFill>
                  <a:srgbClr val="0F172A"/>
                </a:solidFill>
                <a:latin typeface="Calibri"/>
              </a:rPr>
              <a:t> CSS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seçici</a:t>
            </a:r>
            <a:r>
              <a:rPr sz="1200" dirty="0">
                <a:solidFill>
                  <a:srgbClr val="0F172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tabanlı</a:t>
            </a:r>
            <a:r>
              <a:rPr sz="1200" dirty="0">
                <a:solidFill>
                  <a:srgbClr val="0F172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yedek</a:t>
            </a:r>
            <a:r>
              <a:rPr sz="1200" dirty="0">
                <a:solidFill>
                  <a:srgbClr val="0F172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ayrıştırıcı</a:t>
            </a:r>
            <a:r>
              <a:rPr sz="1200" dirty="0">
                <a:solidFill>
                  <a:srgbClr val="0F172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devreye</a:t>
            </a:r>
            <a:r>
              <a:rPr sz="1200" dirty="0">
                <a:solidFill>
                  <a:srgbClr val="0F172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girer</a:t>
            </a:r>
            <a:endParaRPr sz="1200" dirty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263640" y="5166360"/>
            <a:ext cx="5120640" cy="816762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1" dirty="0">
                <a:solidFill>
                  <a:srgbClr val="14B8A6"/>
                </a:solidFill>
                <a:latin typeface="Calibri"/>
              </a:rPr>
              <a:t>▸  </a:t>
            </a:r>
            <a:r>
              <a:rPr sz="1200" dirty="0">
                <a:solidFill>
                  <a:srgbClr val="0F172A"/>
                </a:solidFill>
                <a:latin typeface="Calibri"/>
              </a:rPr>
              <a:t>User-Agent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rotasyonu</a:t>
            </a:r>
            <a:r>
              <a:rPr sz="1200" dirty="0">
                <a:solidFill>
                  <a:srgbClr val="0F172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ve</a:t>
            </a:r>
            <a:r>
              <a:rPr sz="1200" dirty="0">
                <a:solidFill>
                  <a:srgbClr val="0F172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rastgele</a:t>
            </a:r>
            <a:r>
              <a:rPr sz="1200" dirty="0">
                <a:solidFill>
                  <a:srgbClr val="0F172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bekleme</a:t>
            </a:r>
            <a:r>
              <a:rPr sz="1200" dirty="0">
                <a:solidFill>
                  <a:srgbClr val="0F172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süreleri</a:t>
            </a:r>
            <a:r>
              <a:rPr sz="1200" dirty="0">
                <a:solidFill>
                  <a:srgbClr val="0F172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ile</a:t>
            </a:r>
            <a:r>
              <a:rPr sz="1200" dirty="0">
                <a:solidFill>
                  <a:srgbClr val="0F172A"/>
                </a:solidFill>
                <a:latin typeface="Calibri"/>
              </a:rPr>
              <a:t> bot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tespiti</a:t>
            </a:r>
            <a:r>
              <a:rPr sz="1200" dirty="0">
                <a:solidFill>
                  <a:srgbClr val="0F172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azaltılır</a:t>
            </a:r>
            <a:endParaRPr sz="1200" dirty="0">
              <a:solidFill>
                <a:srgbClr val="0F172A"/>
              </a:solidFill>
              <a:latin typeface="Calibri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1" dirty="0">
                <a:solidFill>
                  <a:srgbClr val="14B8A6"/>
                </a:solidFill>
                <a:latin typeface="Calibri"/>
              </a:rPr>
              <a:t>▸ 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Toplanan</a:t>
            </a:r>
            <a:r>
              <a:rPr sz="1200" dirty="0">
                <a:solidFill>
                  <a:srgbClr val="0F172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veriler</a:t>
            </a:r>
            <a:r>
              <a:rPr sz="1200" dirty="0">
                <a:solidFill>
                  <a:srgbClr val="0F172A"/>
                </a:solidFill>
                <a:latin typeface="Calibri"/>
              </a:rPr>
              <a:t> Pandas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ile</a:t>
            </a:r>
            <a:r>
              <a:rPr sz="1200" dirty="0">
                <a:solidFill>
                  <a:srgbClr val="0F172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temizlenip</a:t>
            </a:r>
            <a:r>
              <a:rPr sz="1200" dirty="0">
                <a:solidFill>
                  <a:srgbClr val="0F172A"/>
                </a:solidFill>
                <a:latin typeface="Calibri"/>
              </a:rPr>
              <a:t> CSV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olarak</a:t>
            </a:r>
            <a:r>
              <a:rPr sz="1200" dirty="0">
                <a:solidFill>
                  <a:srgbClr val="0F172A"/>
                </a:solidFill>
                <a:latin typeface="Calibri"/>
              </a:rPr>
              <a:t> data/raw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klasörüne</a:t>
            </a:r>
            <a:r>
              <a:rPr sz="1200" dirty="0">
                <a:solidFill>
                  <a:srgbClr val="0F172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kaydedilir</a:t>
            </a:r>
            <a:endParaRPr sz="1200" dirty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57" name="Oval 56"/>
          <p:cNvSpPr/>
          <p:nvPr/>
        </p:nvSpPr>
        <p:spPr>
          <a:xfrm>
            <a:off x="640080" y="6565392"/>
            <a:ext cx="73152" cy="7315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80">
                <a:solidFill>
                  <a:srgbClr val="64748B"/>
                </a:solidFill>
                <a:latin typeface="Calibri"/>
              </a:rPr>
              <a:t>Veri Madenciliği Dersi  •  Müşteri Memnuniyeti Analizi  •  Ara Sunum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58400" y="6446520"/>
            <a:ext cx="1673352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 spc="80">
                <a:solidFill>
                  <a:srgbClr val="1F4066"/>
                </a:solidFill>
                <a:latin typeface="Calibri"/>
              </a:rPr>
              <a:t>Sayfa 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607040" y="-1463040"/>
            <a:ext cx="3291840" cy="3291840"/>
          </a:xfrm>
          <a:prstGeom prst="ellipse">
            <a:avLst/>
          </a:prstGeom>
          <a:solidFill>
            <a:srgbClr val="CCFBF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731520" y="5669280"/>
            <a:ext cx="2011680" cy="2011680"/>
          </a:xfrm>
          <a:prstGeom prst="ellipse">
            <a:avLst/>
          </a:prstGeom>
          <a:solidFill>
            <a:srgbClr val="FEF3C7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424160" y="228600"/>
            <a:ext cx="1554480" cy="1417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0" b="1" i="0">
                <a:solidFill>
                  <a:srgbClr val="CCFBF1"/>
                </a:solidFill>
                <a:latin typeface="Calibr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14B8A6"/>
                </a:solidFill>
                <a:latin typeface="Calibri"/>
              </a:rPr>
              <a:t>BÖLÜM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77240"/>
            <a:ext cx="96012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 dirty="0" err="1">
                <a:solidFill>
                  <a:srgbClr val="0B1F33"/>
                </a:solidFill>
                <a:latin typeface="Calibri"/>
              </a:rPr>
              <a:t>Şu</a:t>
            </a:r>
            <a:r>
              <a:rPr sz="3000" b="1" i="0" dirty="0">
                <a:solidFill>
                  <a:srgbClr val="0B1F33"/>
                </a:solidFill>
                <a:latin typeface="Calibri"/>
              </a:rPr>
              <a:t> Ana Kadar </a:t>
            </a:r>
            <a:r>
              <a:rPr sz="3000" b="1" i="0" dirty="0" err="1">
                <a:solidFill>
                  <a:srgbClr val="0B1F33"/>
                </a:solidFill>
                <a:latin typeface="Calibri"/>
              </a:rPr>
              <a:t>Yapılanlar</a:t>
            </a:r>
            <a:endParaRPr sz="3000" b="1" i="0" dirty="0">
              <a:solidFill>
                <a:srgbClr val="0B1F33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9601200" cy="2868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 dirty="0" err="1">
                <a:solidFill>
                  <a:srgbClr val="64748B"/>
                </a:solidFill>
                <a:latin typeface="Calibri"/>
              </a:rPr>
              <a:t>Tamamlanan</a:t>
            </a:r>
            <a:r>
              <a:rPr sz="15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1500" b="0" i="1" dirty="0" err="1">
                <a:solidFill>
                  <a:srgbClr val="64748B"/>
                </a:solidFill>
                <a:latin typeface="Calibri"/>
              </a:rPr>
              <a:t>aşamalar</a:t>
            </a:r>
            <a:r>
              <a:rPr sz="15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1500" b="0" i="1" dirty="0" err="1">
                <a:solidFill>
                  <a:srgbClr val="64748B"/>
                </a:solidFill>
                <a:latin typeface="Calibri"/>
              </a:rPr>
              <a:t>ve</a:t>
            </a:r>
            <a:r>
              <a:rPr sz="15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1500" b="0" i="1" dirty="0" err="1">
                <a:solidFill>
                  <a:srgbClr val="64748B"/>
                </a:solidFill>
                <a:latin typeface="Calibri"/>
              </a:rPr>
              <a:t>elde</a:t>
            </a:r>
            <a:r>
              <a:rPr sz="15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1500" b="0" i="1" dirty="0" err="1">
                <a:solidFill>
                  <a:srgbClr val="64748B"/>
                </a:solidFill>
                <a:latin typeface="Calibri"/>
              </a:rPr>
              <a:t>edilen</a:t>
            </a:r>
            <a:r>
              <a:rPr sz="15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1500" b="0" i="1" dirty="0" err="1">
                <a:solidFill>
                  <a:srgbClr val="64748B"/>
                </a:solidFill>
                <a:latin typeface="Calibri"/>
              </a:rPr>
              <a:t>çıktılar</a:t>
            </a:r>
            <a:endParaRPr sz="1500" b="0" i="1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548640" cy="4114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234440" y="1892807"/>
            <a:ext cx="1033272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0080" y="2194560"/>
            <a:ext cx="10927080" cy="2423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177800" dist="50800" dir="5400000" algn="ctr" rotWithShape="0">
              <a:srgbClr val="0B1F3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2194560"/>
            <a:ext cx="1092708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395728"/>
            <a:ext cx="10287000" cy="25346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spc="300" dirty="0">
                <a:solidFill>
                  <a:srgbClr val="14B8A6"/>
                </a:solidFill>
                <a:latin typeface="Calibri"/>
              </a:rPr>
              <a:t>TAMAMLANAN ÇALIŞMALAR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834640"/>
            <a:ext cx="5074920" cy="1691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tr-TR" sz="1200" b="1" dirty="0">
                <a:solidFill>
                  <a:srgbClr val="14B8A6"/>
                </a:solidFill>
                <a:latin typeface="Calibri"/>
              </a:rPr>
              <a:t>✓   </a:t>
            </a:r>
            <a:r>
              <a:rPr lang="tr-TR" sz="1200" dirty="0">
                <a:solidFill>
                  <a:srgbClr val="0F172A"/>
                </a:solidFill>
                <a:latin typeface="Calibri"/>
              </a:rPr>
              <a:t>Problem tanımı, araştırma sorusu ve proje kapsamı belirlendi (README dokümante edildi).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tr-TR" sz="1200" b="1" dirty="0">
                <a:solidFill>
                  <a:srgbClr val="14B8A6"/>
                </a:solidFill>
                <a:latin typeface="Calibri"/>
              </a:rPr>
              <a:t>✓   </a:t>
            </a:r>
            <a:r>
              <a:rPr lang="tr-TR" sz="1200" dirty="0">
                <a:solidFill>
                  <a:srgbClr val="0F172A"/>
                </a:solidFill>
                <a:latin typeface="Calibri"/>
              </a:rPr>
              <a:t>Proje dosya yapısı oluşturuldu: data/, </a:t>
            </a:r>
            <a:r>
              <a:rPr lang="tr-TR" sz="1200" dirty="0" err="1">
                <a:solidFill>
                  <a:srgbClr val="0F172A"/>
                </a:solidFill>
                <a:latin typeface="Calibri"/>
              </a:rPr>
              <a:t>src</a:t>
            </a:r>
            <a:r>
              <a:rPr lang="tr-TR" sz="1200" dirty="0">
                <a:solidFill>
                  <a:srgbClr val="0F172A"/>
                </a:solidFill>
                <a:latin typeface="Calibri"/>
              </a:rPr>
              <a:t>/</a:t>
            </a:r>
            <a:r>
              <a:rPr lang="tr-TR" sz="1200" dirty="0" err="1">
                <a:solidFill>
                  <a:srgbClr val="0F172A"/>
                </a:solidFill>
                <a:latin typeface="Calibri"/>
              </a:rPr>
              <a:t>scraping</a:t>
            </a:r>
            <a:r>
              <a:rPr lang="tr-TR" sz="1200" dirty="0">
                <a:solidFill>
                  <a:srgbClr val="0F172A"/>
                </a:solidFill>
                <a:latin typeface="Calibri"/>
              </a:rPr>
              <a:t>, </a:t>
            </a:r>
            <a:r>
              <a:rPr lang="tr-TR" sz="1200" dirty="0" err="1">
                <a:solidFill>
                  <a:srgbClr val="0F172A"/>
                </a:solidFill>
                <a:latin typeface="Calibri"/>
              </a:rPr>
              <a:t>src</a:t>
            </a:r>
            <a:r>
              <a:rPr lang="tr-TR" sz="1200" dirty="0">
                <a:solidFill>
                  <a:srgbClr val="0F172A"/>
                </a:solidFill>
                <a:latin typeface="Calibri"/>
              </a:rPr>
              <a:t>/</a:t>
            </a:r>
            <a:r>
              <a:rPr lang="tr-TR" sz="1200" dirty="0" err="1">
                <a:solidFill>
                  <a:srgbClr val="0F172A"/>
                </a:solidFill>
                <a:latin typeface="Calibri"/>
              </a:rPr>
              <a:t>preprocessing</a:t>
            </a:r>
            <a:r>
              <a:rPr lang="tr-TR" sz="1200" dirty="0">
                <a:solidFill>
                  <a:srgbClr val="0F172A"/>
                </a:solidFill>
                <a:latin typeface="Calibri"/>
              </a:rPr>
              <a:t>, </a:t>
            </a:r>
            <a:r>
              <a:rPr lang="tr-TR" sz="1200" dirty="0" err="1">
                <a:solidFill>
                  <a:srgbClr val="0F172A"/>
                </a:solidFill>
                <a:latin typeface="Calibri"/>
              </a:rPr>
              <a:t>src</a:t>
            </a:r>
            <a:r>
              <a:rPr lang="tr-TR" sz="1200" dirty="0">
                <a:solidFill>
                  <a:srgbClr val="0F172A"/>
                </a:solidFill>
                <a:latin typeface="Calibri"/>
              </a:rPr>
              <a:t>/</a:t>
            </a:r>
            <a:r>
              <a:rPr lang="tr-TR" sz="1200" dirty="0" err="1">
                <a:solidFill>
                  <a:srgbClr val="0F172A"/>
                </a:solidFill>
                <a:latin typeface="Calibri"/>
              </a:rPr>
              <a:t>modeling</a:t>
            </a:r>
            <a:r>
              <a:rPr lang="tr-TR" sz="1200" dirty="0">
                <a:solidFill>
                  <a:srgbClr val="0F172A"/>
                </a:solidFill>
                <a:latin typeface="Calibri"/>
              </a:rPr>
              <a:t>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tr-TR" sz="1200" b="1" dirty="0">
                <a:solidFill>
                  <a:srgbClr val="14B8A6"/>
                </a:solidFill>
                <a:latin typeface="Calibri"/>
              </a:rPr>
              <a:t>✓   </a:t>
            </a:r>
            <a:r>
              <a:rPr lang="tr-TR" sz="1200" dirty="0" err="1">
                <a:solidFill>
                  <a:srgbClr val="0F172A"/>
                </a:solidFill>
                <a:latin typeface="Calibri"/>
              </a:rPr>
              <a:t>Trustpilot</a:t>
            </a:r>
            <a:r>
              <a:rPr lang="tr-TR" sz="1200" dirty="0">
                <a:solidFill>
                  <a:srgbClr val="0F172A"/>
                </a:solidFill>
                <a:latin typeface="Calibri"/>
              </a:rPr>
              <a:t> </a:t>
            </a:r>
            <a:r>
              <a:rPr lang="tr-TR" sz="1200" dirty="0" err="1">
                <a:solidFill>
                  <a:srgbClr val="0F172A"/>
                </a:solidFill>
                <a:latin typeface="Calibri"/>
              </a:rPr>
              <a:t>scraper</a:t>
            </a:r>
            <a:r>
              <a:rPr lang="tr-TR" sz="1200" dirty="0">
                <a:solidFill>
                  <a:srgbClr val="0F172A"/>
                </a:solidFill>
                <a:latin typeface="Calibri"/>
              </a:rPr>
              <a:t> geliştirildi (</a:t>
            </a:r>
            <a:r>
              <a:rPr lang="tr-TR" sz="1200" dirty="0" err="1">
                <a:solidFill>
                  <a:srgbClr val="0F172A"/>
                </a:solidFill>
                <a:latin typeface="Calibri"/>
              </a:rPr>
              <a:t>Selenium</a:t>
            </a:r>
            <a:r>
              <a:rPr lang="tr-TR" sz="1200" dirty="0">
                <a:solidFill>
                  <a:srgbClr val="0F172A"/>
                </a:solidFill>
                <a:latin typeface="Calibri"/>
              </a:rPr>
              <a:t> + JSON-LD ayrıştırma, sayfalama desteği).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834640"/>
            <a:ext cx="5074920" cy="142718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1" dirty="0">
                <a:solidFill>
                  <a:srgbClr val="14B8A6"/>
                </a:solidFill>
                <a:latin typeface="Calibri"/>
              </a:rPr>
              <a:t>✓  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Sitejabber</a:t>
            </a:r>
            <a:r>
              <a:rPr sz="1200" dirty="0">
                <a:solidFill>
                  <a:srgbClr val="0F172A"/>
                </a:solidFill>
                <a:latin typeface="Calibri"/>
              </a:rPr>
              <a:t> scraper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geliştirildi</a:t>
            </a:r>
            <a:r>
              <a:rPr sz="1200" dirty="0">
                <a:solidFill>
                  <a:srgbClr val="0F172A"/>
                </a:solidFill>
                <a:latin typeface="Calibri"/>
              </a:rPr>
              <a:t> (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çoklu</a:t>
            </a:r>
            <a:r>
              <a:rPr sz="1200" dirty="0">
                <a:solidFill>
                  <a:srgbClr val="0F172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şirket</a:t>
            </a:r>
            <a:r>
              <a:rPr sz="1200" dirty="0">
                <a:solidFill>
                  <a:srgbClr val="0F172A"/>
                </a:solidFill>
                <a:latin typeface="Calibri"/>
              </a:rPr>
              <a:t>, lazy-load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için</a:t>
            </a:r>
            <a:r>
              <a:rPr sz="1200" dirty="0">
                <a:solidFill>
                  <a:srgbClr val="0F172A"/>
                </a:solidFill>
                <a:latin typeface="Calibri"/>
              </a:rPr>
              <a:t> scroll, User-Agent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rotasyonu</a:t>
            </a:r>
            <a:r>
              <a:rPr sz="1200" dirty="0">
                <a:solidFill>
                  <a:srgbClr val="0F172A"/>
                </a:solidFill>
                <a:latin typeface="Calibri"/>
              </a:rPr>
              <a:t>).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1" dirty="0">
                <a:solidFill>
                  <a:srgbClr val="14B8A6"/>
                </a:solidFill>
                <a:latin typeface="Calibri"/>
              </a:rPr>
              <a:t>✓   </a:t>
            </a:r>
            <a:r>
              <a:rPr sz="1200" dirty="0">
                <a:solidFill>
                  <a:srgbClr val="0F172A"/>
                </a:solidFill>
                <a:latin typeface="Calibri"/>
              </a:rPr>
              <a:t>İki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platformdan</a:t>
            </a:r>
            <a:r>
              <a:rPr sz="1200" dirty="0">
                <a:solidFill>
                  <a:srgbClr val="0F172A"/>
                </a:solidFill>
                <a:latin typeface="Calibri"/>
              </a:rPr>
              <a:t> ilk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veri</a:t>
            </a:r>
            <a:r>
              <a:rPr sz="1200" dirty="0">
                <a:solidFill>
                  <a:srgbClr val="0F172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çekimleri</a:t>
            </a:r>
            <a:r>
              <a:rPr sz="1200" dirty="0">
                <a:solidFill>
                  <a:srgbClr val="0F172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başarıyla</a:t>
            </a:r>
            <a:r>
              <a:rPr sz="1200" dirty="0">
                <a:solidFill>
                  <a:srgbClr val="0F172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yapıldı</a:t>
            </a:r>
            <a:r>
              <a:rPr sz="1200" dirty="0">
                <a:solidFill>
                  <a:srgbClr val="0F172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ve</a:t>
            </a:r>
            <a:r>
              <a:rPr sz="1200" dirty="0">
                <a:solidFill>
                  <a:srgbClr val="0F172A"/>
                </a:solidFill>
                <a:latin typeface="Calibri"/>
              </a:rPr>
              <a:t> CSV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olarak</a:t>
            </a:r>
            <a:r>
              <a:rPr sz="1200" dirty="0">
                <a:solidFill>
                  <a:srgbClr val="0F172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depolandı</a:t>
            </a:r>
            <a:r>
              <a:rPr sz="1200" dirty="0">
                <a:solidFill>
                  <a:srgbClr val="0F172A"/>
                </a:solidFill>
                <a:latin typeface="Calibri"/>
              </a:rPr>
              <a:t>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1" dirty="0">
                <a:solidFill>
                  <a:srgbClr val="14B8A6"/>
                </a:solidFill>
                <a:latin typeface="Calibri"/>
              </a:rPr>
              <a:t>✓   </a:t>
            </a:r>
            <a:r>
              <a:rPr sz="1200" dirty="0">
                <a:solidFill>
                  <a:srgbClr val="0F172A"/>
                </a:solidFill>
                <a:latin typeface="Calibri"/>
              </a:rPr>
              <a:t>GitHub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üzerinde</a:t>
            </a:r>
            <a:r>
              <a:rPr sz="1200" dirty="0">
                <a:solidFill>
                  <a:srgbClr val="0F172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ekip</a:t>
            </a:r>
            <a:r>
              <a:rPr sz="1200" dirty="0">
                <a:solidFill>
                  <a:srgbClr val="0F172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iş</a:t>
            </a:r>
            <a:r>
              <a:rPr sz="1200" dirty="0">
                <a:solidFill>
                  <a:srgbClr val="0F172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birliği</a:t>
            </a:r>
            <a:r>
              <a:rPr sz="1200" dirty="0">
                <a:solidFill>
                  <a:srgbClr val="0F172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kuruldu</a:t>
            </a:r>
            <a:r>
              <a:rPr sz="1200" dirty="0">
                <a:solidFill>
                  <a:srgbClr val="0F172A"/>
                </a:solidFill>
                <a:latin typeface="Calibri"/>
              </a:rPr>
              <a:t>; pull request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akışı</a:t>
            </a:r>
            <a:r>
              <a:rPr sz="1200" dirty="0">
                <a:solidFill>
                  <a:srgbClr val="0F172A"/>
                </a:solidFill>
                <a:latin typeface="Calibri"/>
              </a:rPr>
              <a:t> (taha, ziya1)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ile</a:t>
            </a:r>
            <a:r>
              <a:rPr sz="1200" dirty="0">
                <a:solidFill>
                  <a:srgbClr val="0F172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değişiklikler</a:t>
            </a:r>
            <a:r>
              <a:rPr sz="1200" dirty="0">
                <a:solidFill>
                  <a:srgbClr val="0F172A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0F172A"/>
                </a:solidFill>
                <a:latin typeface="Calibri"/>
              </a:rPr>
              <a:t>birleştirildi</a:t>
            </a:r>
            <a:r>
              <a:rPr sz="1200" dirty="0">
                <a:solidFill>
                  <a:srgbClr val="0F172A"/>
                </a:solidFill>
                <a:latin typeface="Calibri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754880"/>
            <a:ext cx="7315200" cy="25346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spc="300" dirty="0">
                <a:solidFill>
                  <a:srgbClr val="F59E0B"/>
                </a:solidFill>
                <a:latin typeface="Calibri"/>
              </a:rPr>
              <a:t>TOPLANAN VERİ ÖZETİ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029200"/>
            <a:ext cx="36576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40080" y="5212080"/>
            <a:ext cx="5349240" cy="1234440"/>
          </a:xfrm>
          <a:prstGeom prst="roundRect">
            <a:avLst>
              <a:gd name="adj" fmla="val 6000"/>
            </a:avLst>
          </a:prstGeom>
          <a:solidFill>
            <a:srgbClr val="0B1F33"/>
          </a:solidFill>
          <a:ln w="9525">
            <a:solidFill>
              <a:srgbClr val="0B1F33"/>
            </a:solidFill>
          </a:ln>
          <a:effectLst>
            <a:outerShdw blurRad="177800" dist="50800" dir="5400000" algn="ctr" rotWithShape="0">
              <a:srgbClr val="0B1F3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5212080"/>
            <a:ext cx="73152" cy="1234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68680" y="5376672"/>
            <a:ext cx="852885" cy="323697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5376672"/>
            <a:ext cx="852885" cy="323697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B1F33"/>
                </a:solidFill>
                <a:latin typeface="Calibri"/>
              </a:rPr>
              <a:t>TRUSTPILOT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669280"/>
            <a:ext cx="22860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≈ 200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6172200"/>
            <a:ext cx="22860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80">
                <a:solidFill>
                  <a:srgbClr val="5EEAD4"/>
                </a:solidFill>
                <a:latin typeface="Calibri"/>
              </a:rPr>
              <a:t>yorum  •  120 KB CSV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5669280"/>
            <a:ext cx="2194560" cy="2368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200" dirty="0">
                <a:solidFill>
                  <a:srgbClr val="5EEAD4"/>
                </a:solidFill>
                <a:latin typeface="Calibri"/>
              </a:rPr>
              <a:t>Kaynak: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5852160"/>
            <a:ext cx="2194560" cy="45929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dirty="0">
                <a:solidFill>
                  <a:srgbClr val="C9D3E0"/>
                </a:solidFill>
                <a:latin typeface="Calibri"/>
              </a:rPr>
              <a:t>tripadvisor.com </a:t>
            </a:r>
            <a:r>
              <a:rPr sz="1100" b="0" i="0" dirty="0" err="1">
                <a:solidFill>
                  <a:srgbClr val="C9D3E0"/>
                </a:solidFill>
                <a:latin typeface="Calibri"/>
              </a:rPr>
              <a:t>sayfası</a:t>
            </a:r>
            <a:r>
              <a:rPr sz="1100" b="0" i="0" dirty="0">
                <a:solidFill>
                  <a:srgbClr val="C9D3E0"/>
                </a:solidFill>
                <a:latin typeface="Calibri"/>
              </a:rPr>
              <a:t>,
30 </a:t>
            </a:r>
            <a:r>
              <a:rPr sz="1100" b="0" i="0" dirty="0" err="1">
                <a:solidFill>
                  <a:srgbClr val="C9D3E0"/>
                </a:solidFill>
                <a:latin typeface="Calibri"/>
              </a:rPr>
              <a:t>sayfaya</a:t>
            </a:r>
            <a:r>
              <a:rPr sz="1100" b="0" i="0" dirty="0">
                <a:solidFill>
                  <a:srgbClr val="C9D3E0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C9D3E0"/>
                </a:solidFill>
                <a:latin typeface="Calibri"/>
              </a:rPr>
              <a:t>kadar</a:t>
            </a:r>
            <a:r>
              <a:rPr sz="1100" b="0" i="0" dirty="0">
                <a:solidFill>
                  <a:srgbClr val="C9D3E0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C9D3E0"/>
                </a:solidFill>
                <a:latin typeface="Calibri"/>
              </a:rPr>
              <a:t>tarama</a:t>
            </a:r>
            <a:endParaRPr sz="1100" b="0" i="0" dirty="0">
              <a:solidFill>
                <a:srgbClr val="C9D3E0"/>
              </a:solidFill>
              <a:latin typeface="Calibri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217920" y="5212080"/>
            <a:ext cx="5349240" cy="1234440"/>
          </a:xfrm>
          <a:prstGeom prst="roundRect">
            <a:avLst>
              <a:gd name="adj" fmla="val 6000"/>
            </a:avLst>
          </a:prstGeom>
          <a:solidFill>
            <a:srgbClr val="0B1F33"/>
          </a:solidFill>
          <a:ln w="9525">
            <a:solidFill>
              <a:srgbClr val="0B1F33"/>
            </a:solidFill>
          </a:ln>
          <a:effectLst>
            <a:outerShdw blurRad="177800" dist="50800" dir="5400000" algn="ctr" rotWithShape="0">
              <a:srgbClr val="0B1F3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17920" y="5212080"/>
            <a:ext cx="73152" cy="1234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446520" y="5376672"/>
            <a:ext cx="852885" cy="323697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46520" y="5376672"/>
            <a:ext cx="852885" cy="323697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B1F33"/>
                </a:solidFill>
                <a:latin typeface="Calibri"/>
              </a:rPr>
              <a:t>SITEJABBER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5669280"/>
            <a:ext cx="22860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≈ 240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6172200"/>
            <a:ext cx="22860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 spc="80">
                <a:solidFill>
                  <a:srgbClr val="FEF3C7"/>
                </a:solidFill>
                <a:latin typeface="Calibri"/>
              </a:rPr>
              <a:t>yorum  •  176 KB CSV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5669280"/>
            <a:ext cx="2743200" cy="2368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200" dirty="0">
                <a:solidFill>
                  <a:srgbClr val="FEF3C7"/>
                </a:solidFill>
                <a:latin typeface="Calibri"/>
              </a:rPr>
              <a:t>5 e-</a:t>
            </a:r>
            <a:r>
              <a:rPr sz="1200" b="1" i="0" spc="200" dirty="0" err="1">
                <a:solidFill>
                  <a:srgbClr val="FEF3C7"/>
                </a:solidFill>
                <a:latin typeface="Calibri"/>
              </a:rPr>
              <a:t>ticaret</a:t>
            </a:r>
            <a:r>
              <a:rPr sz="1200" b="1" i="0" spc="200" dirty="0">
                <a:solidFill>
                  <a:srgbClr val="FEF3C7"/>
                </a:solidFill>
                <a:latin typeface="Calibri"/>
              </a:rPr>
              <a:t> </a:t>
            </a:r>
            <a:r>
              <a:rPr sz="1200" b="1" i="0" spc="200" dirty="0" err="1">
                <a:solidFill>
                  <a:srgbClr val="FEF3C7"/>
                </a:solidFill>
                <a:latin typeface="Calibri"/>
              </a:rPr>
              <a:t>sitesi</a:t>
            </a:r>
            <a:r>
              <a:rPr sz="1200" b="1" i="0" spc="200" dirty="0">
                <a:solidFill>
                  <a:srgbClr val="FEF3C7"/>
                </a:solidFill>
                <a:latin typeface="Calibri"/>
              </a:rPr>
              <a:t>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5852160"/>
            <a:ext cx="2743200" cy="45929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 dirty="0">
                <a:solidFill>
                  <a:srgbClr val="C9D3E0"/>
                </a:solidFill>
                <a:latin typeface="Calibri"/>
              </a:rPr>
              <a:t>Amazon, eBay, Etsy,
Walmart, AliExpress</a:t>
            </a:r>
          </a:p>
        </p:txBody>
      </p:sp>
      <p:sp>
        <p:nvSpPr>
          <p:cNvPr id="34" name="Oval 33"/>
          <p:cNvSpPr/>
          <p:nvPr/>
        </p:nvSpPr>
        <p:spPr>
          <a:xfrm>
            <a:off x="640080" y="6565392"/>
            <a:ext cx="73152" cy="7315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80">
                <a:solidFill>
                  <a:srgbClr val="64748B"/>
                </a:solidFill>
                <a:latin typeface="Calibri"/>
              </a:rPr>
              <a:t>Veri Madenciliği Dersi  •  Müşteri Memnuniyeti Analizi  •  Ara Sunum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6446520"/>
            <a:ext cx="1673352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 spc="80">
                <a:solidFill>
                  <a:srgbClr val="1F4066"/>
                </a:solidFill>
                <a:latin typeface="Calibri"/>
              </a:rPr>
              <a:t>Sayfa 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607040" y="-1463040"/>
            <a:ext cx="3291840" cy="3291840"/>
          </a:xfrm>
          <a:prstGeom prst="ellipse">
            <a:avLst/>
          </a:prstGeom>
          <a:solidFill>
            <a:srgbClr val="CCFBF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731520" y="5669280"/>
            <a:ext cx="2011680" cy="2011680"/>
          </a:xfrm>
          <a:prstGeom prst="ellipse">
            <a:avLst/>
          </a:prstGeom>
          <a:solidFill>
            <a:srgbClr val="FEF3C7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424160" y="228600"/>
            <a:ext cx="1554480" cy="1417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0" b="1" i="0">
                <a:solidFill>
                  <a:srgbClr val="CCFBF1"/>
                </a:solidFill>
                <a:latin typeface="Calibr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14B8A6"/>
                </a:solidFill>
                <a:latin typeface="Calibri"/>
              </a:rPr>
              <a:t>BÖLÜM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77240"/>
            <a:ext cx="96012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0B1F33"/>
                </a:solidFill>
                <a:latin typeface="Calibri"/>
              </a:rPr>
              <a:t>Kullanılan Teknolojiler ve Yaklaşım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9601200" cy="2868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 dirty="0" err="1">
                <a:solidFill>
                  <a:srgbClr val="64748B"/>
                </a:solidFill>
                <a:latin typeface="Calibri"/>
              </a:rPr>
              <a:t>Geliştirme</a:t>
            </a:r>
            <a:r>
              <a:rPr sz="15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1500" b="0" i="1" dirty="0" err="1">
                <a:solidFill>
                  <a:srgbClr val="64748B"/>
                </a:solidFill>
                <a:latin typeface="Calibri"/>
              </a:rPr>
              <a:t>ortamı</a:t>
            </a:r>
            <a:r>
              <a:rPr sz="15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1500" b="0" i="1" dirty="0" err="1">
                <a:solidFill>
                  <a:srgbClr val="64748B"/>
                </a:solidFill>
                <a:latin typeface="Calibri"/>
              </a:rPr>
              <a:t>ve</a:t>
            </a:r>
            <a:r>
              <a:rPr sz="15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1500" b="0" i="1" dirty="0" err="1">
                <a:solidFill>
                  <a:srgbClr val="64748B"/>
                </a:solidFill>
                <a:latin typeface="Calibri"/>
              </a:rPr>
              <a:t>teknik</a:t>
            </a:r>
            <a:r>
              <a:rPr sz="15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1500" b="0" i="1" dirty="0" err="1">
                <a:solidFill>
                  <a:srgbClr val="64748B"/>
                </a:solidFill>
                <a:latin typeface="Calibri"/>
              </a:rPr>
              <a:t>kararlar</a:t>
            </a:r>
            <a:endParaRPr sz="1500" b="0" i="1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548640" cy="4114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234440" y="1892807"/>
            <a:ext cx="1033272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0080" y="2194560"/>
            <a:ext cx="2608326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177800" dist="50800" dir="5400000" algn="ctr" rotWithShape="0">
              <a:srgbClr val="0B1F3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2194560"/>
            <a:ext cx="2608326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68680" y="2395728"/>
            <a:ext cx="502920" cy="50292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2395728"/>
            <a:ext cx="50292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B1F33"/>
                </a:solidFill>
                <a:latin typeface="Calibri"/>
              </a:rPr>
              <a:t>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395728"/>
            <a:ext cx="1693926" cy="25346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dirty="0" err="1">
                <a:solidFill>
                  <a:srgbClr val="0B1F33"/>
                </a:solidFill>
                <a:latin typeface="Calibri"/>
              </a:rPr>
              <a:t>Programlama</a:t>
            </a:r>
            <a:r>
              <a:rPr sz="1300" b="1" i="0" dirty="0">
                <a:solidFill>
                  <a:srgbClr val="0B1F33"/>
                </a:solidFill>
                <a:latin typeface="Calibri"/>
              </a:rPr>
              <a:t> Dili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971800"/>
            <a:ext cx="2151126" cy="25763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 dirty="0">
                <a:solidFill>
                  <a:srgbClr val="0F172A"/>
                </a:solidFill>
                <a:latin typeface="Calibri"/>
              </a:rPr>
              <a:t>Python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12998" y="2194560"/>
            <a:ext cx="2608326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177800" dist="50800" dir="5400000" algn="ctr" rotWithShape="0">
              <a:srgbClr val="0B1F3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412998" y="2194560"/>
            <a:ext cx="2608326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641598" y="2395728"/>
            <a:ext cx="502920" cy="5029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41598" y="2395728"/>
            <a:ext cx="50292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B1F33"/>
                </a:solidFill>
                <a:latin typeface="Calibri"/>
              </a:rPr>
              <a:t>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35958" y="2395728"/>
            <a:ext cx="1693926" cy="25346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dirty="0">
                <a:solidFill>
                  <a:srgbClr val="0B1F33"/>
                </a:solidFill>
                <a:latin typeface="Calibri"/>
              </a:rPr>
              <a:t>Veri Toplama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41598" y="2971800"/>
            <a:ext cx="2151126" cy="4977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 dirty="0">
                <a:solidFill>
                  <a:srgbClr val="0F172A"/>
                </a:solidFill>
                <a:latin typeface="Calibri"/>
              </a:rPr>
              <a:t>Selenium · </a:t>
            </a:r>
            <a:r>
              <a:rPr sz="1200" b="0" i="0" dirty="0" err="1">
                <a:solidFill>
                  <a:srgbClr val="0F172A"/>
                </a:solidFill>
                <a:latin typeface="Calibri"/>
              </a:rPr>
              <a:t>webdriver</a:t>
            </a:r>
            <a:r>
              <a:rPr sz="1200" b="0" i="0" dirty="0">
                <a:solidFill>
                  <a:srgbClr val="0F172A"/>
                </a:solidFill>
                <a:latin typeface="Calibri"/>
              </a:rPr>
              <a:t>-manager · </a:t>
            </a:r>
            <a:r>
              <a:rPr sz="1200" b="0" i="0" dirty="0" err="1">
                <a:solidFill>
                  <a:srgbClr val="0F172A"/>
                </a:solidFill>
                <a:latin typeface="Calibri"/>
              </a:rPr>
              <a:t>BeautifulSoup</a:t>
            </a:r>
            <a:r>
              <a:rPr sz="1200" b="0" i="0" dirty="0">
                <a:solidFill>
                  <a:srgbClr val="0F172A"/>
                </a:solidFill>
                <a:latin typeface="Calibri"/>
              </a:rPr>
              <a:t> · Requests · </a:t>
            </a:r>
            <a:r>
              <a:rPr sz="1200" b="0" i="0" dirty="0" err="1">
                <a:solidFill>
                  <a:srgbClr val="0F172A"/>
                </a:solidFill>
                <a:latin typeface="Calibri"/>
              </a:rPr>
              <a:t>lxml</a:t>
            </a:r>
            <a:endParaRPr sz="1200" b="0" i="0" dirty="0">
              <a:solidFill>
                <a:srgbClr val="0F172A"/>
              </a:solidFill>
              <a:latin typeface="Calibri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185916" y="2194560"/>
            <a:ext cx="2608326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177800" dist="50800" dir="5400000" algn="ctr" rotWithShape="0">
              <a:srgbClr val="0B1F3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85916" y="2194560"/>
            <a:ext cx="2608326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414516" y="2395728"/>
            <a:ext cx="502920" cy="50292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14516" y="2395728"/>
            <a:ext cx="50292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B1F33"/>
                </a:solidFill>
                <a:latin typeface="Calibri"/>
              </a:rPr>
              <a:t>DP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08876" y="2395728"/>
            <a:ext cx="1693926" cy="25346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dirty="0">
                <a:solidFill>
                  <a:srgbClr val="0B1F33"/>
                </a:solidFill>
                <a:latin typeface="Calibri"/>
              </a:rPr>
              <a:t>Veri </a:t>
            </a:r>
            <a:r>
              <a:rPr sz="1300" b="1" i="0" dirty="0" err="1">
                <a:solidFill>
                  <a:srgbClr val="0B1F33"/>
                </a:solidFill>
                <a:latin typeface="Calibri"/>
              </a:rPr>
              <a:t>İşleme</a:t>
            </a:r>
            <a:endParaRPr sz="1300" b="1" i="0" dirty="0">
              <a:solidFill>
                <a:srgbClr val="0B1F33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14516" y="2971800"/>
            <a:ext cx="2151126" cy="25763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 dirty="0">
                <a:solidFill>
                  <a:srgbClr val="0F172A"/>
                </a:solidFill>
                <a:latin typeface="Calibri"/>
              </a:rPr>
              <a:t>Pandas · NumPy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58834" y="2194560"/>
            <a:ext cx="2608326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177800" dist="50800" dir="5400000" algn="ctr" rotWithShape="0">
              <a:srgbClr val="0B1F3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958834" y="2194560"/>
            <a:ext cx="2608326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187434" y="2395728"/>
            <a:ext cx="502920" cy="5029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87434" y="2395728"/>
            <a:ext cx="50292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B1F33"/>
                </a:solidFill>
                <a:latin typeface="Calibri"/>
              </a:rPr>
              <a:t>NLP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1794" y="2395728"/>
            <a:ext cx="1693926" cy="25346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dirty="0" err="1">
                <a:solidFill>
                  <a:srgbClr val="0B1F33"/>
                </a:solidFill>
                <a:latin typeface="Calibri"/>
              </a:rPr>
              <a:t>Doğal</a:t>
            </a:r>
            <a:r>
              <a:rPr sz="1300" b="1" i="0" dirty="0">
                <a:solidFill>
                  <a:srgbClr val="0B1F33"/>
                </a:solidFill>
                <a:latin typeface="Calibri"/>
              </a:rPr>
              <a:t> Dil </a:t>
            </a:r>
            <a:r>
              <a:rPr sz="1300" b="1" i="0" dirty="0" err="1">
                <a:solidFill>
                  <a:srgbClr val="0B1F33"/>
                </a:solidFill>
                <a:latin typeface="Calibri"/>
              </a:rPr>
              <a:t>İşleme</a:t>
            </a:r>
            <a:endParaRPr sz="1300" b="1" i="0" dirty="0">
              <a:solidFill>
                <a:srgbClr val="0B1F33"/>
              </a:solidFill>
              <a:latin typeface="Calibr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187434" y="2971800"/>
            <a:ext cx="2151126" cy="25763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 dirty="0">
                <a:solidFill>
                  <a:srgbClr val="0F172A"/>
                </a:solidFill>
                <a:latin typeface="Calibri"/>
              </a:rPr>
              <a:t>NLTK · Scikit-learn  (</a:t>
            </a:r>
            <a:r>
              <a:rPr sz="1200" b="0" i="0" dirty="0" err="1">
                <a:solidFill>
                  <a:srgbClr val="0F172A"/>
                </a:solidFill>
                <a:latin typeface="Calibri"/>
              </a:rPr>
              <a:t>planlanan</a:t>
            </a:r>
            <a:r>
              <a:rPr sz="1200" b="0" i="0" dirty="0">
                <a:solidFill>
                  <a:srgbClr val="0F172A"/>
                </a:solidFill>
                <a:latin typeface="Calibri"/>
              </a:rPr>
              <a:t>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3685032"/>
            <a:ext cx="2608326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177800" dist="50800" dir="5400000" algn="ctr" rotWithShape="0">
              <a:srgbClr val="0B1F3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40080" y="3685032"/>
            <a:ext cx="2608326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68680" y="3886200"/>
            <a:ext cx="502920" cy="50292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68680" y="3886200"/>
            <a:ext cx="50292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B1F33"/>
                </a:solidFill>
                <a:latin typeface="Calibri"/>
              </a:rPr>
              <a:t>ML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63040" y="3886200"/>
            <a:ext cx="1693926" cy="25346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dirty="0" err="1">
                <a:solidFill>
                  <a:srgbClr val="0B1F33"/>
                </a:solidFill>
                <a:latin typeface="Calibri"/>
              </a:rPr>
              <a:t>Modelleme</a:t>
            </a:r>
            <a:endParaRPr sz="1300" b="1" i="0" dirty="0">
              <a:solidFill>
                <a:srgbClr val="0B1F33"/>
              </a:solidFill>
              <a:latin typeface="Calibr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68680" y="4462272"/>
            <a:ext cx="2151126" cy="4977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 dirty="0">
                <a:solidFill>
                  <a:srgbClr val="0F172A"/>
                </a:solidFill>
                <a:latin typeface="Calibri"/>
              </a:rPr>
              <a:t>Scikit-learn — </a:t>
            </a:r>
            <a:r>
              <a:rPr sz="1200" b="0" i="0" dirty="0" err="1">
                <a:solidFill>
                  <a:srgbClr val="0F172A"/>
                </a:solidFill>
                <a:latin typeface="Calibri"/>
              </a:rPr>
              <a:t>Lojistik</a:t>
            </a:r>
            <a:r>
              <a:rPr sz="1200" b="0" i="0" dirty="0">
                <a:solidFill>
                  <a:srgbClr val="0F172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F172A"/>
                </a:solidFill>
                <a:latin typeface="Calibri"/>
              </a:rPr>
              <a:t>Regresyon</a:t>
            </a:r>
            <a:r>
              <a:rPr sz="1200" b="0" i="0" dirty="0">
                <a:solidFill>
                  <a:srgbClr val="0F172A"/>
                </a:solidFill>
                <a:latin typeface="Calibri"/>
              </a:rPr>
              <a:t>, Naive Bayes  (</a:t>
            </a:r>
            <a:r>
              <a:rPr sz="1200" b="0" i="0" dirty="0" err="1">
                <a:solidFill>
                  <a:srgbClr val="0F172A"/>
                </a:solidFill>
                <a:latin typeface="Calibri"/>
              </a:rPr>
              <a:t>planlanan</a:t>
            </a:r>
            <a:r>
              <a:rPr sz="1200" b="0" i="0" dirty="0">
                <a:solidFill>
                  <a:srgbClr val="0F172A"/>
                </a:solidFill>
                <a:latin typeface="Calibri"/>
              </a:rPr>
              <a:t>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12998" y="3685032"/>
            <a:ext cx="2608326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177800" dist="50800" dir="5400000" algn="ctr" rotWithShape="0">
              <a:srgbClr val="0B1F3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412998" y="3685032"/>
            <a:ext cx="2608326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3641598" y="3886200"/>
            <a:ext cx="502920" cy="5029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641598" y="3886200"/>
            <a:ext cx="50292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B1F33"/>
                </a:solidFill>
                <a:latin typeface="Calibri"/>
              </a:rPr>
              <a:t>VIZ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35958" y="3886200"/>
            <a:ext cx="1693926" cy="25346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dirty="0" err="1">
                <a:solidFill>
                  <a:srgbClr val="0B1F33"/>
                </a:solidFill>
                <a:latin typeface="Calibri"/>
              </a:rPr>
              <a:t>Görselleştirme</a:t>
            </a:r>
            <a:endParaRPr sz="1300" b="1" i="0" dirty="0">
              <a:solidFill>
                <a:srgbClr val="0B1F33"/>
              </a:solidFill>
              <a:latin typeface="Calibri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641598" y="4462272"/>
            <a:ext cx="2151126" cy="25763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 dirty="0">
                <a:solidFill>
                  <a:srgbClr val="0F172A"/>
                </a:solidFill>
                <a:latin typeface="Calibri"/>
              </a:rPr>
              <a:t>Matplotlib · Seaborn  (</a:t>
            </a:r>
            <a:r>
              <a:rPr sz="1200" b="0" i="0" dirty="0" err="1">
                <a:solidFill>
                  <a:srgbClr val="0F172A"/>
                </a:solidFill>
                <a:latin typeface="Calibri"/>
              </a:rPr>
              <a:t>planlanan</a:t>
            </a:r>
            <a:r>
              <a:rPr sz="1200" b="0" i="0" dirty="0">
                <a:solidFill>
                  <a:srgbClr val="0F172A"/>
                </a:solidFill>
                <a:latin typeface="Calibri"/>
              </a:rPr>
              <a:t>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85916" y="3685032"/>
            <a:ext cx="2608326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177800" dist="50800" dir="5400000" algn="ctr" rotWithShape="0">
              <a:srgbClr val="0B1F3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185916" y="3685032"/>
            <a:ext cx="2608326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6414516" y="3886200"/>
            <a:ext cx="502920" cy="50292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14516" y="3886200"/>
            <a:ext cx="50292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B1F33"/>
                </a:solidFill>
                <a:latin typeface="Calibri"/>
              </a:rPr>
              <a:t>GIT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08876" y="3886200"/>
            <a:ext cx="1693926" cy="25346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dirty="0" err="1">
                <a:solidFill>
                  <a:srgbClr val="0B1F33"/>
                </a:solidFill>
                <a:latin typeface="Calibri"/>
              </a:rPr>
              <a:t>Sürüm</a:t>
            </a:r>
            <a:r>
              <a:rPr sz="1300" b="1" i="0" dirty="0">
                <a:solidFill>
                  <a:srgbClr val="0B1F33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0B1F33"/>
                </a:solidFill>
                <a:latin typeface="Calibri"/>
              </a:rPr>
              <a:t>Kontrolü</a:t>
            </a:r>
            <a:endParaRPr sz="1300" b="1" i="0" dirty="0">
              <a:solidFill>
                <a:srgbClr val="0B1F33"/>
              </a:solidFill>
              <a:latin typeface="Calibri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414516" y="4462272"/>
            <a:ext cx="2151126" cy="4977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 dirty="0">
                <a:solidFill>
                  <a:srgbClr val="0F172A"/>
                </a:solidFill>
                <a:latin typeface="Calibri"/>
              </a:rPr>
              <a:t>Git + GitHub (pull request </a:t>
            </a:r>
            <a:r>
              <a:rPr sz="1200" b="0" i="0" dirty="0" err="1">
                <a:solidFill>
                  <a:srgbClr val="0F172A"/>
                </a:solidFill>
                <a:latin typeface="Calibri"/>
              </a:rPr>
              <a:t>tabanlı</a:t>
            </a:r>
            <a:r>
              <a:rPr sz="1200" b="0" i="0" dirty="0">
                <a:solidFill>
                  <a:srgbClr val="0F172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F172A"/>
                </a:solidFill>
                <a:latin typeface="Calibri"/>
              </a:rPr>
              <a:t>iş</a:t>
            </a:r>
            <a:r>
              <a:rPr sz="1200" b="0" i="0" dirty="0">
                <a:solidFill>
                  <a:srgbClr val="0F172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F172A"/>
                </a:solidFill>
                <a:latin typeface="Calibri"/>
              </a:rPr>
              <a:t>birliği</a:t>
            </a:r>
            <a:r>
              <a:rPr sz="1200" b="0" i="0" dirty="0">
                <a:solidFill>
                  <a:srgbClr val="0F172A"/>
                </a:solidFill>
                <a:latin typeface="Calibri"/>
              </a:rPr>
              <a:t>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0080" y="5349240"/>
            <a:ext cx="10927080" cy="960120"/>
          </a:xfrm>
          <a:prstGeom prst="roundRect">
            <a:avLst>
              <a:gd name="adj" fmla="val 6000"/>
            </a:avLst>
          </a:prstGeom>
          <a:solidFill>
            <a:srgbClr val="0B1F33"/>
          </a:solidFill>
          <a:ln w="9525">
            <a:solidFill>
              <a:srgbClr val="0B1F33"/>
            </a:solidFill>
          </a:ln>
          <a:effectLst>
            <a:outerShdw blurRad="177800" dist="50800" dir="5400000" algn="ctr" rotWithShape="0">
              <a:srgbClr val="0B1F3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40080" y="5349240"/>
            <a:ext cx="73152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68680" y="5468112"/>
            <a:ext cx="10515600" cy="25346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spc="300" dirty="0">
                <a:solidFill>
                  <a:srgbClr val="F59E0B"/>
                </a:solidFill>
                <a:latin typeface="Calibri"/>
              </a:rPr>
              <a:t>TEKNİK KARARLAR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" y="5760720"/>
            <a:ext cx="4937760" cy="52540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1" dirty="0">
                <a:solidFill>
                  <a:srgbClr val="F59E0B"/>
                </a:solidFill>
                <a:latin typeface="Calibri"/>
              </a:rPr>
              <a:t>▸  </a:t>
            </a:r>
            <a:r>
              <a:rPr sz="1200" dirty="0" err="1">
                <a:solidFill>
                  <a:srgbClr val="FFFFFF"/>
                </a:solidFill>
                <a:latin typeface="Calibri"/>
              </a:rPr>
              <a:t>Dinamik</a:t>
            </a:r>
            <a:r>
              <a:rPr sz="1200" dirty="0">
                <a:solidFill>
                  <a:srgbClr val="FFFFFF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FFFFFF"/>
                </a:solidFill>
                <a:latin typeface="Calibri"/>
              </a:rPr>
              <a:t>içerik</a:t>
            </a:r>
            <a:r>
              <a:rPr sz="1200" dirty="0">
                <a:solidFill>
                  <a:srgbClr val="FFFFFF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FFFFFF"/>
                </a:solidFill>
                <a:latin typeface="Calibri"/>
              </a:rPr>
              <a:t>için</a:t>
            </a:r>
            <a:r>
              <a:rPr sz="1200" dirty="0">
                <a:solidFill>
                  <a:srgbClr val="FFFFFF"/>
                </a:solidFill>
                <a:latin typeface="Calibri"/>
              </a:rPr>
              <a:t> Selenium </a:t>
            </a:r>
            <a:r>
              <a:rPr sz="1200" dirty="0" err="1">
                <a:solidFill>
                  <a:srgbClr val="FFFFFF"/>
                </a:solidFill>
                <a:latin typeface="Calibri"/>
              </a:rPr>
              <a:t>tercih</a:t>
            </a:r>
            <a:r>
              <a:rPr sz="1200" dirty="0">
                <a:solidFill>
                  <a:srgbClr val="FFFFFF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FFFFFF"/>
                </a:solidFill>
                <a:latin typeface="Calibri"/>
              </a:rPr>
              <a:t>edildi</a:t>
            </a:r>
            <a:r>
              <a:rPr sz="1200" dirty="0">
                <a:solidFill>
                  <a:srgbClr val="FFFFFF"/>
                </a:solidFill>
                <a:latin typeface="Calibri"/>
              </a:rPr>
              <a:t>; </a:t>
            </a:r>
            <a:r>
              <a:rPr sz="1200" dirty="0" err="1">
                <a:solidFill>
                  <a:srgbClr val="FFFFFF"/>
                </a:solidFill>
                <a:latin typeface="Calibri"/>
              </a:rPr>
              <a:t>statik</a:t>
            </a:r>
            <a:r>
              <a:rPr sz="1200" dirty="0">
                <a:solidFill>
                  <a:srgbClr val="FFFFFF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FFFFFF"/>
                </a:solidFill>
                <a:latin typeface="Calibri"/>
              </a:rPr>
              <a:t>isteklerle</a:t>
            </a:r>
            <a:r>
              <a:rPr sz="1200" dirty="0">
                <a:solidFill>
                  <a:srgbClr val="FFFFFF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FFFFFF"/>
                </a:solidFill>
                <a:latin typeface="Calibri"/>
              </a:rPr>
              <a:t>veri</a:t>
            </a:r>
            <a:r>
              <a:rPr sz="1200" dirty="0">
                <a:solidFill>
                  <a:srgbClr val="FFFFFF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FFFFFF"/>
                </a:solidFill>
                <a:latin typeface="Calibri"/>
              </a:rPr>
              <a:t>alınamıyordu</a:t>
            </a:r>
            <a:r>
              <a:rPr sz="1200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43600" y="5760720"/>
            <a:ext cx="4937760" cy="525400"/>
          </a:xfrm>
          <a:prstGeom prst="rect">
            <a:avLst/>
          </a:prstGeom>
          <a:noFill/>
        </p:spPr>
        <p:txBody>
          <a:bodyPr wrap="square" lIns="45720" tIns="18288" rIns="4572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1" dirty="0">
                <a:solidFill>
                  <a:srgbClr val="F59E0B"/>
                </a:solidFill>
                <a:latin typeface="Calibri"/>
              </a:rPr>
              <a:t>▸  </a:t>
            </a:r>
            <a:r>
              <a:rPr sz="1200" dirty="0">
                <a:solidFill>
                  <a:srgbClr val="FFFFFF"/>
                </a:solidFill>
                <a:latin typeface="Calibri"/>
              </a:rPr>
              <a:t>JSON-LD </a:t>
            </a:r>
            <a:r>
              <a:rPr sz="1200" dirty="0" err="1">
                <a:solidFill>
                  <a:srgbClr val="FFFFFF"/>
                </a:solidFill>
                <a:latin typeface="Calibri"/>
              </a:rPr>
              <a:t>öncelikli</a:t>
            </a:r>
            <a:r>
              <a:rPr sz="1200" dirty="0">
                <a:solidFill>
                  <a:srgbClr val="FFFFFF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FFFFFF"/>
                </a:solidFill>
                <a:latin typeface="Calibri"/>
              </a:rPr>
              <a:t>ayrıştırma</a:t>
            </a:r>
            <a:r>
              <a:rPr sz="1200" dirty="0">
                <a:solidFill>
                  <a:srgbClr val="FFFFFF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FFFFFF"/>
                </a:solidFill>
                <a:latin typeface="Calibri"/>
              </a:rPr>
              <a:t>ile</a:t>
            </a:r>
            <a:r>
              <a:rPr sz="1200" dirty="0">
                <a:solidFill>
                  <a:srgbClr val="FFFFFF"/>
                </a:solidFill>
                <a:latin typeface="Calibri"/>
              </a:rPr>
              <a:t> site </a:t>
            </a:r>
            <a:r>
              <a:rPr sz="1200" dirty="0" err="1">
                <a:solidFill>
                  <a:srgbClr val="FFFFFF"/>
                </a:solidFill>
                <a:latin typeface="Calibri"/>
              </a:rPr>
              <a:t>arayüz</a:t>
            </a:r>
            <a:r>
              <a:rPr sz="1200" dirty="0">
                <a:solidFill>
                  <a:srgbClr val="FFFFFF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FFFFFF"/>
                </a:solidFill>
                <a:latin typeface="Calibri"/>
              </a:rPr>
              <a:t>değişikliklerine</a:t>
            </a:r>
            <a:r>
              <a:rPr sz="1200" dirty="0">
                <a:solidFill>
                  <a:srgbClr val="FFFFFF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FFFFFF"/>
                </a:solidFill>
                <a:latin typeface="Calibri"/>
              </a:rPr>
              <a:t>karşı</a:t>
            </a:r>
            <a:r>
              <a:rPr sz="1200" dirty="0">
                <a:solidFill>
                  <a:srgbClr val="FFFFFF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FFFFFF"/>
                </a:solidFill>
                <a:latin typeface="Calibri"/>
              </a:rPr>
              <a:t>dayanıklılık</a:t>
            </a:r>
            <a:r>
              <a:rPr sz="1200" dirty="0">
                <a:solidFill>
                  <a:srgbClr val="FFFFFF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FFFFFF"/>
                </a:solidFill>
                <a:latin typeface="Calibri"/>
              </a:rPr>
              <a:t>sağlandı</a:t>
            </a:r>
            <a:r>
              <a:rPr sz="1200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58" name="Oval 57"/>
          <p:cNvSpPr/>
          <p:nvPr/>
        </p:nvSpPr>
        <p:spPr>
          <a:xfrm>
            <a:off x="640080" y="6565392"/>
            <a:ext cx="73152" cy="7315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80">
                <a:solidFill>
                  <a:srgbClr val="64748B"/>
                </a:solidFill>
                <a:latin typeface="Calibri"/>
              </a:rPr>
              <a:t>Veri Madenciliği Dersi  •  Müşteri Memnuniyeti Analizi  •  Ara Sunum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58400" y="6446520"/>
            <a:ext cx="1673352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 spc="80">
                <a:solidFill>
                  <a:srgbClr val="1F4066"/>
                </a:solidFill>
                <a:latin typeface="Calibri"/>
              </a:rPr>
              <a:t>Sayfa 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607040" y="-1463040"/>
            <a:ext cx="3291840" cy="3291840"/>
          </a:xfrm>
          <a:prstGeom prst="ellipse">
            <a:avLst/>
          </a:prstGeom>
          <a:solidFill>
            <a:srgbClr val="CCFBF1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731520" y="5669280"/>
            <a:ext cx="2011680" cy="2011680"/>
          </a:xfrm>
          <a:prstGeom prst="ellipse">
            <a:avLst/>
          </a:prstGeom>
          <a:solidFill>
            <a:srgbClr val="FEF3C7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424160" y="228600"/>
            <a:ext cx="1554480" cy="1417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0" b="1" i="0">
                <a:solidFill>
                  <a:srgbClr val="CCFBF1"/>
                </a:solidFill>
                <a:latin typeface="Calibr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27432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14B8A6"/>
                </a:solidFill>
                <a:latin typeface="Calibri"/>
              </a:rPr>
              <a:t>BÖLÜM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77240"/>
            <a:ext cx="96012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 dirty="0" err="1">
                <a:solidFill>
                  <a:srgbClr val="0B1F33"/>
                </a:solidFill>
                <a:latin typeface="Calibri"/>
              </a:rPr>
              <a:t>Sonraki</a:t>
            </a:r>
            <a:r>
              <a:rPr sz="3000" b="1" i="0" dirty="0">
                <a:solidFill>
                  <a:srgbClr val="0B1F33"/>
                </a:solidFill>
                <a:latin typeface="Calibri"/>
              </a:rPr>
              <a:t> </a:t>
            </a:r>
            <a:r>
              <a:rPr sz="3000" b="1" i="0" dirty="0" err="1">
                <a:solidFill>
                  <a:srgbClr val="0B1F33"/>
                </a:solidFill>
                <a:latin typeface="Calibri"/>
              </a:rPr>
              <a:t>Adımlar</a:t>
            </a:r>
            <a:r>
              <a:rPr sz="3000" b="1" i="0" dirty="0">
                <a:solidFill>
                  <a:srgbClr val="0B1F33"/>
                </a:solidFill>
                <a:latin typeface="Calibri"/>
              </a:rPr>
              <a:t> </a:t>
            </a:r>
            <a:r>
              <a:rPr sz="3000" b="1" i="0" dirty="0" err="1">
                <a:solidFill>
                  <a:srgbClr val="0B1F33"/>
                </a:solidFill>
                <a:latin typeface="Calibri"/>
              </a:rPr>
              <a:t>ve</a:t>
            </a:r>
            <a:r>
              <a:rPr sz="3000" b="1" i="0" dirty="0">
                <a:solidFill>
                  <a:srgbClr val="0B1F33"/>
                </a:solidFill>
                <a:latin typeface="Calibri"/>
              </a:rPr>
              <a:t> Yol </a:t>
            </a:r>
            <a:r>
              <a:rPr sz="3000" b="1" i="0" dirty="0" err="1">
                <a:solidFill>
                  <a:srgbClr val="0B1F33"/>
                </a:solidFill>
                <a:latin typeface="Calibri"/>
              </a:rPr>
              <a:t>Haritası</a:t>
            </a:r>
            <a:endParaRPr sz="3000" b="1" i="0" dirty="0">
              <a:solidFill>
                <a:srgbClr val="0B1F33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9601200" cy="2868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 dirty="0">
                <a:solidFill>
                  <a:srgbClr val="64748B"/>
                </a:solidFill>
                <a:latin typeface="Calibri"/>
              </a:rPr>
              <a:t>Veri </a:t>
            </a:r>
            <a:r>
              <a:rPr sz="1500" b="0" i="1" dirty="0" err="1">
                <a:solidFill>
                  <a:srgbClr val="64748B"/>
                </a:solidFill>
                <a:latin typeface="Calibri"/>
              </a:rPr>
              <a:t>toplamadan</a:t>
            </a:r>
            <a:r>
              <a:rPr sz="15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1500" b="0" i="1" dirty="0" err="1">
                <a:solidFill>
                  <a:srgbClr val="64748B"/>
                </a:solidFill>
                <a:latin typeface="Calibri"/>
              </a:rPr>
              <a:t>modellemeye</a:t>
            </a:r>
            <a:r>
              <a:rPr sz="15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1500" b="0" i="1" dirty="0" err="1">
                <a:solidFill>
                  <a:srgbClr val="64748B"/>
                </a:solidFill>
                <a:latin typeface="Calibri"/>
              </a:rPr>
              <a:t>proje</a:t>
            </a:r>
            <a:r>
              <a:rPr sz="15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1500" b="0" i="1" dirty="0" err="1">
                <a:solidFill>
                  <a:srgbClr val="64748B"/>
                </a:solidFill>
                <a:latin typeface="Calibri"/>
              </a:rPr>
              <a:t>takvimi</a:t>
            </a:r>
            <a:endParaRPr sz="1500" b="0" i="1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548640" cy="4114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234440" y="1892807"/>
            <a:ext cx="1033272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0080" y="2194560"/>
            <a:ext cx="726948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177800" dist="50800" dir="5400000" algn="ctr" rotWithShape="0">
              <a:srgbClr val="0B1F3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2194560"/>
            <a:ext cx="726948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395728"/>
            <a:ext cx="6629400" cy="25346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spc="300" dirty="0">
                <a:solidFill>
                  <a:srgbClr val="14B8A6"/>
                </a:solidFill>
                <a:latin typeface="Calibri"/>
              </a:rPr>
              <a:t>YAPILACAKLAR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77748" y="3154680"/>
            <a:ext cx="22860" cy="27523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42416" y="3017520"/>
            <a:ext cx="292608" cy="292608"/>
          </a:xfrm>
          <a:prstGeom prst="ellipse">
            <a:avLst/>
          </a:prstGeom>
          <a:solidFill>
            <a:srgbClr val="14B8A6"/>
          </a:solidFill>
          <a:ln w="9525"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42416" y="3017520"/>
            <a:ext cx="292608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2971800"/>
            <a:ext cx="626364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 dirty="0">
                <a:solidFill>
                  <a:srgbClr val="0F172A"/>
                </a:solidFill>
                <a:latin typeface="Calibri"/>
              </a:rPr>
              <a:t>Veri </a:t>
            </a:r>
            <a:r>
              <a:rPr sz="1050" b="0" i="0" dirty="0" err="1">
                <a:solidFill>
                  <a:srgbClr val="0F172A"/>
                </a:solidFill>
                <a:latin typeface="Calibri"/>
              </a:rPr>
              <a:t>toplama</a:t>
            </a:r>
            <a:r>
              <a:rPr sz="1050" b="0" i="0" dirty="0">
                <a:solidFill>
                  <a:srgbClr val="0F172A"/>
                </a:solidFill>
                <a:latin typeface="Calibri"/>
              </a:rPr>
              <a:t>: Trustpilot, </a:t>
            </a:r>
            <a:r>
              <a:rPr sz="1050" b="0" i="0" dirty="0" err="1">
                <a:solidFill>
                  <a:srgbClr val="0F172A"/>
                </a:solidFill>
                <a:latin typeface="Calibri"/>
              </a:rPr>
              <a:t>Sitejabber</a:t>
            </a:r>
            <a:r>
              <a:rPr sz="1050" b="0" i="0" dirty="0">
                <a:solidFill>
                  <a:srgbClr val="0F172A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0F172A"/>
                </a:solidFill>
                <a:latin typeface="Calibri"/>
              </a:rPr>
              <a:t>ve</a:t>
            </a:r>
            <a:r>
              <a:rPr sz="1050" b="0" i="0" dirty="0">
                <a:solidFill>
                  <a:srgbClr val="0F172A"/>
                </a:solidFill>
                <a:latin typeface="Calibri"/>
              </a:rPr>
              <a:t> Google Reviews </a:t>
            </a:r>
            <a:r>
              <a:rPr sz="1050" b="0" i="0" dirty="0" err="1">
                <a:solidFill>
                  <a:srgbClr val="0F172A"/>
                </a:solidFill>
                <a:latin typeface="Calibri"/>
              </a:rPr>
              <a:t>scraper'ları</a:t>
            </a:r>
            <a:r>
              <a:rPr sz="1050" b="0" i="0" dirty="0">
                <a:solidFill>
                  <a:srgbClr val="0F172A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0F172A"/>
                </a:solidFill>
                <a:latin typeface="Calibri"/>
              </a:rPr>
              <a:t>geliştirilecek</a:t>
            </a:r>
            <a:r>
              <a:rPr sz="1050" b="0" i="0" dirty="0">
                <a:solidFill>
                  <a:srgbClr val="0F172A"/>
                </a:solidFill>
                <a:latin typeface="Calibri"/>
              </a:rPr>
              <a:t>; </a:t>
            </a:r>
            <a:r>
              <a:rPr sz="1050" b="0" i="0" dirty="0" err="1">
                <a:solidFill>
                  <a:srgbClr val="0F172A"/>
                </a:solidFill>
                <a:latin typeface="Calibri"/>
              </a:rPr>
              <a:t>mevcut</a:t>
            </a:r>
            <a:r>
              <a:rPr sz="1050" b="0" i="0" dirty="0">
                <a:solidFill>
                  <a:srgbClr val="0F172A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0F172A"/>
                </a:solidFill>
                <a:latin typeface="Calibri"/>
              </a:rPr>
              <a:t>veri</a:t>
            </a:r>
            <a:r>
              <a:rPr sz="1050" b="0" i="0" dirty="0">
                <a:solidFill>
                  <a:srgbClr val="0F172A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0F172A"/>
                </a:solidFill>
                <a:latin typeface="Calibri"/>
              </a:rPr>
              <a:t>seti</a:t>
            </a:r>
            <a:r>
              <a:rPr sz="1050" b="0" i="0" dirty="0">
                <a:solidFill>
                  <a:srgbClr val="0F172A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0F172A"/>
                </a:solidFill>
                <a:latin typeface="Calibri"/>
              </a:rPr>
              <a:t>genişletilecek</a:t>
            </a:r>
            <a:r>
              <a:rPr sz="1050" b="0" i="0" dirty="0">
                <a:solidFill>
                  <a:srgbClr val="0F172A"/>
                </a:solidFill>
                <a:latin typeface="Calibri"/>
              </a:rPr>
              <a:t>.</a:t>
            </a:r>
          </a:p>
        </p:txBody>
      </p:sp>
      <p:sp>
        <p:nvSpPr>
          <p:cNvPr id="18" name="Oval 17"/>
          <p:cNvSpPr/>
          <p:nvPr/>
        </p:nvSpPr>
        <p:spPr>
          <a:xfrm>
            <a:off x="1042416" y="3410712"/>
            <a:ext cx="292608" cy="292608"/>
          </a:xfrm>
          <a:prstGeom prst="ellipse">
            <a:avLst/>
          </a:prstGeom>
          <a:solidFill>
            <a:srgbClr val="0B1F33"/>
          </a:solidFill>
          <a:ln w="9525"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42416" y="3410712"/>
            <a:ext cx="292608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364992"/>
            <a:ext cx="626364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 dirty="0" err="1">
                <a:solidFill>
                  <a:srgbClr val="0F172A"/>
                </a:solidFill>
                <a:latin typeface="Calibri"/>
              </a:rPr>
              <a:t>Keşifsel</a:t>
            </a:r>
            <a:r>
              <a:rPr sz="1050" b="0" i="0" dirty="0">
                <a:solidFill>
                  <a:srgbClr val="0F172A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0F172A"/>
                </a:solidFill>
                <a:latin typeface="Calibri"/>
              </a:rPr>
              <a:t>veri</a:t>
            </a:r>
            <a:r>
              <a:rPr sz="1050" b="0" i="0" dirty="0">
                <a:solidFill>
                  <a:srgbClr val="0F172A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0F172A"/>
                </a:solidFill>
                <a:latin typeface="Calibri"/>
              </a:rPr>
              <a:t>analizi</a:t>
            </a:r>
            <a:r>
              <a:rPr sz="1050" b="0" i="0" dirty="0">
                <a:solidFill>
                  <a:srgbClr val="0F172A"/>
                </a:solidFill>
                <a:latin typeface="Calibri"/>
              </a:rPr>
              <a:t> (EDA): </a:t>
            </a:r>
            <a:r>
              <a:rPr sz="1050" b="0" i="0" dirty="0" err="1">
                <a:solidFill>
                  <a:srgbClr val="0F172A"/>
                </a:solidFill>
                <a:latin typeface="Calibri"/>
              </a:rPr>
              <a:t>puan</a:t>
            </a:r>
            <a:r>
              <a:rPr sz="1050" b="0" i="0" dirty="0">
                <a:solidFill>
                  <a:srgbClr val="0F172A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0F172A"/>
                </a:solidFill>
                <a:latin typeface="Calibri"/>
              </a:rPr>
              <a:t>dağılımı</a:t>
            </a:r>
            <a:r>
              <a:rPr sz="1050" b="0" i="0" dirty="0">
                <a:solidFill>
                  <a:srgbClr val="0F172A"/>
                </a:solidFill>
                <a:latin typeface="Calibri"/>
              </a:rPr>
              <a:t>, </a:t>
            </a:r>
            <a:r>
              <a:rPr sz="1050" b="0" i="0" dirty="0" err="1">
                <a:solidFill>
                  <a:srgbClr val="0F172A"/>
                </a:solidFill>
                <a:latin typeface="Calibri"/>
              </a:rPr>
              <a:t>yorum</a:t>
            </a:r>
            <a:r>
              <a:rPr sz="1050" b="0" i="0" dirty="0">
                <a:solidFill>
                  <a:srgbClr val="0F172A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0F172A"/>
                </a:solidFill>
                <a:latin typeface="Calibri"/>
              </a:rPr>
              <a:t>uzunluğu</a:t>
            </a:r>
            <a:r>
              <a:rPr sz="1050" b="0" i="0" dirty="0">
                <a:solidFill>
                  <a:srgbClr val="0F172A"/>
                </a:solidFill>
                <a:latin typeface="Calibri"/>
              </a:rPr>
              <a:t>, platform </a:t>
            </a:r>
            <a:r>
              <a:rPr sz="1050" b="0" i="0" dirty="0" err="1">
                <a:solidFill>
                  <a:srgbClr val="0F172A"/>
                </a:solidFill>
                <a:latin typeface="Calibri"/>
              </a:rPr>
              <a:t>bazlı</a:t>
            </a:r>
            <a:r>
              <a:rPr sz="1050" b="0" i="0" dirty="0">
                <a:solidFill>
                  <a:srgbClr val="0F172A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0F172A"/>
                </a:solidFill>
                <a:latin typeface="Calibri"/>
              </a:rPr>
              <a:t>karşılaştırma</a:t>
            </a:r>
            <a:r>
              <a:rPr sz="1050" b="0" i="0" dirty="0">
                <a:solidFill>
                  <a:srgbClr val="0F172A"/>
                </a:solidFill>
                <a:latin typeface="Calibri"/>
              </a:rPr>
              <a:t>.</a:t>
            </a:r>
          </a:p>
        </p:txBody>
      </p:sp>
      <p:sp>
        <p:nvSpPr>
          <p:cNvPr id="21" name="Oval 20"/>
          <p:cNvSpPr/>
          <p:nvPr/>
        </p:nvSpPr>
        <p:spPr>
          <a:xfrm>
            <a:off x="1042416" y="3803904"/>
            <a:ext cx="292608" cy="292608"/>
          </a:xfrm>
          <a:prstGeom prst="ellipse">
            <a:avLst/>
          </a:prstGeom>
          <a:solidFill>
            <a:srgbClr val="0B1F33"/>
          </a:solidFill>
          <a:ln w="9525"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42416" y="3803904"/>
            <a:ext cx="292608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758184"/>
            <a:ext cx="626364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0F172A"/>
                </a:solidFill>
                <a:latin typeface="Calibri"/>
              </a:rPr>
              <a:t>Veri ön işleme: küçük harfe çevirme, noktalama temizliği, stop-word çıkarma, lemmatizasyon.</a:t>
            </a:r>
          </a:p>
        </p:txBody>
      </p:sp>
      <p:sp>
        <p:nvSpPr>
          <p:cNvPr id="24" name="Oval 23"/>
          <p:cNvSpPr/>
          <p:nvPr/>
        </p:nvSpPr>
        <p:spPr>
          <a:xfrm>
            <a:off x="1042416" y="4197096"/>
            <a:ext cx="292608" cy="292608"/>
          </a:xfrm>
          <a:prstGeom prst="ellipse">
            <a:avLst/>
          </a:prstGeom>
          <a:solidFill>
            <a:srgbClr val="0B1F33"/>
          </a:solidFill>
          <a:ln w="9525"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42416" y="4197096"/>
            <a:ext cx="292608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4151376"/>
            <a:ext cx="626364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0F172A"/>
                </a:solidFill>
                <a:latin typeface="Calibri"/>
              </a:rPr>
              <a:t>Etiketleme stratejisi: yıldız puanına göre pozitif / nötr / negatif sınıf eşlemesi.</a:t>
            </a:r>
          </a:p>
        </p:txBody>
      </p:sp>
      <p:sp>
        <p:nvSpPr>
          <p:cNvPr id="27" name="Oval 26"/>
          <p:cNvSpPr/>
          <p:nvPr/>
        </p:nvSpPr>
        <p:spPr>
          <a:xfrm>
            <a:off x="1042416" y="4590288"/>
            <a:ext cx="292608" cy="292608"/>
          </a:xfrm>
          <a:prstGeom prst="ellipse">
            <a:avLst/>
          </a:prstGeom>
          <a:solidFill>
            <a:srgbClr val="0B1F33"/>
          </a:solidFill>
          <a:ln w="9525"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42416" y="4590288"/>
            <a:ext cx="292608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4544568"/>
            <a:ext cx="626364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0F172A"/>
                </a:solidFill>
                <a:latin typeface="Calibri"/>
              </a:rPr>
              <a:t>Özellik çıkarma: TF-IDF ve Bag-of-Words vektörleştirme.</a:t>
            </a:r>
          </a:p>
        </p:txBody>
      </p:sp>
      <p:sp>
        <p:nvSpPr>
          <p:cNvPr id="30" name="Oval 29"/>
          <p:cNvSpPr/>
          <p:nvPr/>
        </p:nvSpPr>
        <p:spPr>
          <a:xfrm>
            <a:off x="1042416" y="4983480"/>
            <a:ext cx="292608" cy="292608"/>
          </a:xfrm>
          <a:prstGeom prst="ellipse">
            <a:avLst/>
          </a:prstGeom>
          <a:solidFill>
            <a:srgbClr val="F59E0B"/>
          </a:solidFill>
          <a:ln w="9525"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42416" y="4983480"/>
            <a:ext cx="292608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4937760"/>
            <a:ext cx="626364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0F172A"/>
                </a:solidFill>
                <a:latin typeface="Calibri"/>
              </a:rPr>
              <a:t>Modelleme: Lojistik Regresyon, Multinomial Naive Bayes ve diğer makine öğrenmesi algoritmalarıyla karşılaştırmalı analiz.</a:t>
            </a:r>
          </a:p>
        </p:txBody>
      </p:sp>
      <p:sp>
        <p:nvSpPr>
          <p:cNvPr id="33" name="Oval 32"/>
          <p:cNvSpPr/>
          <p:nvPr/>
        </p:nvSpPr>
        <p:spPr>
          <a:xfrm>
            <a:off x="1042416" y="5376672"/>
            <a:ext cx="292608" cy="292608"/>
          </a:xfrm>
          <a:prstGeom prst="ellipse">
            <a:avLst/>
          </a:prstGeom>
          <a:solidFill>
            <a:srgbClr val="F59E0B"/>
          </a:solidFill>
          <a:ln w="9525"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42416" y="5376672"/>
            <a:ext cx="292608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63040" y="5330952"/>
            <a:ext cx="626364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0F172A"/>
                </a:solidFill>
                <a:latin typeface="Calibri"/>
              </a:rPr>
              <a:t>Değerlendirme: Accuracy, Precision, Recall, F1 ve karışıklık matrisi.</a:t>
            </a:r>
          </a:p>
        </p:txBody>
      </p:sp>
      <p:sp>
        <p:nvSpPr>
          <p:cNvPr id="36" name="Oval 35"/>
          <p:cNvSpPr/>
          <p:nvPr/>
        </p:nvSpPr>
        <p:spPr>
          <a:xfrm>
            <a:off x="1042416" y="5769864"/>
            <a:ext cx="292608" cy="292608"/>
          </a:xfrm>
          <a:prstGeom prst="ellipse">
            <a:avLst/>
          </a:prstGeom>
          <a:solidFill>
            <a:srgbClr val="F59E0B"/>
          </a:solidFill>
          <a:ln w="9525"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42416" y="5769864"/>
            <a:ext cx="292608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63040" y="5724144"/>
            <a:ext cx="626364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0F172A"/>
                </a:solidFill>
                <a:latin typeface="Calibri"/>
              </a:rPr>
              <a:t>Görselleştirme ve final raporun hazırlanması; sunumun teslim edilmesi.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92440" y="2194560"/>
            <a:ext cx="347472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177800" dist="50800" dir="5400000" algn="ctr" rotWithShape="0">
              <a:srgbClr val="0B1F33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92440" y="2194560"/>
            <a:ext cx="34747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366760" y="2395728"/>
            <a:ext cx="2926080" cy="25346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spc="300" dirty="0">
                <a:solidFill>
                  <a:srgbClr val="F59E0B"/>
                </a:solidFill>
                <a:latin typeface="Calibri"/>
              </a:rPr>
              <a:t>GÖREV DAĞILIMI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2651760"/>
            <a:ext cx="2926080" cy="2368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 dirty="0" err="1">
                <a:solidFill>
                  <a:srgbClr val="64748B"/>
                </a:solidFill>
                <a:latin typeface="Calibri"/>
              </a:rPr>
              <a:t>Planlanan</a:t>
            </a:r>
            <a:endParaRPr sz="1200" b="0" i="1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8321040" y="3063240"/>
            <a:ext cx="3017520" cy="960120"/>
          </a:xfrm>
          <a:prstGeom prst="roundRect">
            <a:avLst/>
          </a:prstGeom>
          <a:solidFill>
            <a:srgbClr val="ECF1F7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8476488" y="3227832"/>
            <a:ext cx="594360" cy="59436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476488" y="3227832"/>
            <a:ext cx="594360" cy="594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B1F33"/>
                </a:solidFill>
                <a:latin typeface="Calibri"/>
              </a:rPr>
              <a:t>FÖ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89720" y="3191256"/>
            <a:ext cx="219456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F33"/>
                </a:solidFill>
                <a:latin typeface="Calibri"/>
              </a:rPr>
              <a:t>Furkan Öztürk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89720" y="3474720"/>
            <a:ext cx="2194560" cy="37035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 dirty="0">
                <a:solidFill>
                  <a:srgbClr val="64748B"/>
                </a:solidFill>
                <a:latin typeface="Calibri"/>
              </a:rPr>
              <a:t>Google scraper, model </a:t>
            </a:r>
            <a:r>
              <a:rPr sz="900" b="0" i="0" dirty="0" err="1">
                <a:solidFill>
                  <a:srgbClr val="64748B"/>
                </a:solidFill>
                <a:latin typeface="Calibri"/>
              </a:rPr>
              <a:t>entegrasyonu</a:t>
            </a:r>
            <a:r>
              <a:rPr sz="9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64748B"/>
                </a:solidFill>
                <a:latin typeface="Calibri"/>
              </a:rPr>
              <a:t>ve</a:t>
            </a:r>
            <a:r>
              <a:rPr sz="9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64748B"/>
                </a:solidFill>
                <a:latin typeface="Calibri"/>
              </a:rPr>
              <a:t>değerlendirme</a:t>
            </a:r>
            <a:endParaRPr sz="900" b="0" i="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8321040" y="4187952"/>
            <a:ext cx="3017520" cy="960120"/>
          </a:xfrm>
          <a:prstGeom prst="roundRect">
            <a:avLst/>
          </a:prstGeom>
          <a:solidFill>
            <a:srgbClr val="ECF1F7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8476488" y="4352544"/>
            <a:ext cx="594360" cy="5943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476488" y="4352544"/>
            <a:ext cx="594360" cy="594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B1F33"/>
                </a:solidFill>
                <a:latin typeface="Calibri"/>
              </a:rPr>
              <a:t>TÇ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89720" y="4315968"/>
            <a:ext cx="219456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F33"/>
                </a:solidFill>
                <a:latin typeface="Calibri"/>
              </a:rPr>
              <a:t>Taha Yasin Çiçek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89720" y="4599432"/>
            <a:ext cx="2194560" cy="19723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 dirty="0" err="1">
                <a:solidFill>
                  <a:srgbClr val="64748B"/>
                </a:solidFill>
                <a:latin typeface="Calibri"/>
              </a:rPr>
              <a:t>Sitejabber</a:t>
            </a:r>
            <a:r>
              <a:rPr sz="900" b="0" i="0" dirty="0">
                <a:solidFill>
                  <a:srgbClr val="64748B"/>
                </a:solidFill>
                <a:latin typeface="Calibri"/>
              </a:rPr>
              <a:t> scraper, </a:t>
            </a:r>
            <a:r>
              <a:rPr sz="900" b="0" i="0" dirty="0" err="1">
                <a:solidFill>
                  <a:srgbClr val="64748B"/>
                </a:solidFill>
                <a:latin typeface="Calibri"/>
              </a:rPr>
              <a:t>veri</a:t>
            </a:r>
            <a:r>
              <a:rPr sz="9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64748B"/>
                </a:solidFill>
                <a:latin typeface="Calibri"/>
              </a:rPr>
              <a:t>ön</a:t>
            </a:r>
            <a:r>
              <a:rPr sz="9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64748B"/>
                </a:solidFill>
                <a:latin typeface="Calibri"/>
              </a:rPr>
              <a:t>işleme</a:t>
            </a:r>
            <a:r>
              <a:rPr sz="9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64748B"/>
                </a:solidFill>
                <a:latin typeface="Calibri"/>
              </a:rPr>
              <a:t>ve</a:t>
            </a:r>
            <a:r>
              <a:rPr sz="900" b="0" i="0" dirty="0">
                <a:solidFill>
                  <a:srgbClr val="64748B"/>
                </a:solidFill>
                <a:latin typeface="Calibri"/>
              </a:rPr>
              <a:t> EDA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321040" y="5312664"/>
            <a:ext cx="3017520" cy="960120"/>
          </a:xfrm>
          <a:prstGeom prst="roundRect">
            <a:avLst/>
          </a:prstGeom>
          <a:solidFill>
            <a:srgbClr val="ECF1F7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8476488" y="5477256"/>
            <a:ext cx="594360" cy="594360"/>
          </a:xfrm>
          <a:prstGeom prst="ellipse">
            <a:avLst/>
          </a:prstGeom>
          <a:solidFill>
            <a:srgbClr val="1F4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476488" y="5477256"/>
            <a:ext cx="594360" cy="594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B1F33"/>
                </a:solidFill>
                <a:latin typeface="Calibri"/>
              </a:rPr>
              <a:t>ZA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89720" y="5440680"/>
            <a:ext cx="219456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1F33"/>
                </a:solidFill>
                <a:latin typeface="Calibri"/>
              </a:rPr>
              <a:t>Ziyaeddin Ayerden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89720" y="5724144"/>
            <a:ext cx="2194560" cy="37035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 dirty="0">
                <a:solidFill>
                  <a:srgbClr val="64748B"/>
                </a:solidFill>
                <a:latin typeface="Calibri"/>
              </a:rPr>
              <a:t>Trustpilot scraper, </a:t>
            </a:r>
            <a:r>
              <a:rPr sz="900" b="0" i="0" dirty="0" err="1">
                <a:solidFill>
                  <a:srgbClr val="64748B"/>
                </a:solidFill>
                <a:latin typeface="Calibri"/>
              </a:rPr>
              <a:t>görselleştirme</a:t>
            </a:r>
            <a:r>
              <a:rPr sz="9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64748B"/>
                </a:solidFill>
                <a:latin typeface="Calibri"/>
              </a:rPr>
              <a:t>ve</a:t>
            </a:r>
            <a:r>
              <a:rPr sz="9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rgbClr val="64748B"/>
                </a:solidFill>
                <a:latin typeface="Calibri"/>
              </a:rPr>
              <a:t>raporlama</a:t>
            </a:r>
            <a:endParaRPr sz="900" b="0" i="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640080" y="6565392"/>
            <a:ext cx="73152" cy="7315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77240" y="6446520"/>
            <a:ext cx="73152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80">
                <a:solidFill>
                  <a:srgbClr val="64748B"/>
                </a:solidFill>
                <a:latin typeface="Calibri"/>
              </a:rPr>
              <a:t>Veri Madenciliği Dersi  •  Müşteri Memnuniyeti Analizi  •  Ara Sunum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58400" y="6446520"/>
            <a:ext cx="1673352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 spc="80">
                <a:solidFill>
                  <a:srgbClr val="1F4066"/>
                </a:solidFill>
                <a:latin typeface="Calibri"/>
              </a:rPr>
              <a:t>Sayfa 06 / 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777</Words>
  <Application>Microsoft Office PowerPoint</Application>
  <PresentationFormat>Geniş ekran</PresentationFormat>
  <Paragraphs>158</Paragraphs>
  <Slides>6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6</vt:i4>
      </vt:variant>
    </vt:vector>
  </HeadingPairs>
  <TitlesOfParts>
    <vt:vector size="10" baseType="lpstr">
      <vt:lpstr>Arial</vt:lpstr>
      <vt:lpstr>Calibri</vt:lpstr>
      <vt:lpstr>Consolas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Furkan Öztürk</cp:lastModifiedBy>
  <cp:revision>2</cp:revision>
  <dcterms:created xsi:type="dcterms:W3CDTF">2013-01-27T09:14:16Z</dcterms:created>
  <dcterms:modified xsi:type="dcterms:W3CDTF">2026-04-29T10:52:58Z</dcterms:modified>
  <cp:category/>
</cp:coreProperties>
</file>